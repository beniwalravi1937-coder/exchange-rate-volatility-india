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Red Hat Display Bold" charset="1" panose="02010803040201060303"/>
      <p:regular r:id="rId20"/>
    </p:embeddedFont>
    <p:embeddedFont>
      <p:font typeface="Palm Club" charset="1" panose="00000000000000000000"/>
      <p:regular r:id="rId21"/>
    </p:embeddedFont>
    <p:embeddedFont>
      <p:font typeface="Red Hat Display" charset="1" panose="02010503040201060303"/>
      <p:regular r:id="rId22"/>
    </p:embeddedFont>
    <p:embeddedFont>
      <p:font typeface="Roboto" charset="1" panose="02000000000000000000"/>
      <p:regular r:id="rId23"/>
    </p:embeddedFont>
    <p:embeddedFont>
      <p:font typeface="Roboto Bold" charset="1" panose="02000000000000000000"/>
      <p:regular r:id="rId24"/>
    </p:embeddedFont>
    <p:embeddedFont>
      <p:font typeface="Helvetica Now Display Bold" charset="1" panose="020B0804030202020204"/>
      <p:regular r:id="rId25"/>
    </p:embeddedFont>
    <p:embeddedFont>
      <p:font typeface="DM Sans Bold" charset="1" panose="00000000000000000000"/>
      <p:regular r:id="rId26"/>
    </p:embeddedFont>
    <p:embeddedFont>
      <p:font typeface="Oswald Bold" charset="1" panose="00000800000000000000"/>
      <p:regular r:id="rId27"/>
    </p:embeddedFont>
    <p:embeddedFont>
      <p:font typeface="Canva Sans" charset="1" panose="020B0503030501040103"/>
      <p:regular r:id="rId28"/>
    </p:embeddedFont>
    <p:embeddedFont>
      <p:font typeface="Canva Sans Bold" charset="1" panose="020B08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7.jpe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0.png" Type="http://schemas.openxmlformats.org/officeDocument/2006/relationships/image"/><Relationship Id="rId9" Target="../media/image3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40.png" Type="http://schemas.openxmlformats.org/officeDocument/2006/relationships/image"/><Relationship Id="rId9"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45.png" Type="http://schemas.openxmlformats.org/officeDocument/2006/relationships/image"/><Relationship Id="rId9"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86521" y="4272444"/>
            <a:ext cx="6925852" cy="6014556"/>
          </a:xfrm>
          <a:custGeom>
            <a:avLst/>
            <a:gdLst/>
            <a:ahLst/>
            <a:cxnLst/>
            <a:rect r="r" b="b" t="t" l="l"/>
            <a:pathLst>
              <a:path h="6014556" w="6925852">
                <a:moveTo>
                  <a:pt x="0" y="0"/>
                </a:moveTo>
                <a:lnTo>
                  <a:pt x="6925853" y="0"/>
                </a:lnTo>
                <a:lnTo>
                  <a:pt x="6925853"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3023957" y="-962223"/>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8482553" y="135509"/>
            <a:ext cx="9805447" cy="4338910"/>
          </a:xfrm>
          <a:custGeom>
            <a:avLst/>
            <a:gdLst/>
            <a:ahLst/>
            <a:cxnLst/>
            <a:rect r="r" b="b" t="t" l="l"/>
            <a:pathLst>
              <a:path h="4338910" w="9805447">
                <a:moveTo>
                  <a:pt x="0" y="0"/>
                </a:moveTo>
                <a:lnTo>
                  <a:pt x="9805447" y="0"/>
                </a:lnTo>
                <a:lnTo>
                  <a:pt x="9805447" y="4338911"/>
                </a:lnTo>
                <a:lnTo>
                  <a:pt x="0" y="4338911"/>
                </a:lnTo>
                <a:lnTo>
                  <a:pt x="0" y="0"/>
                </a:lnTo>
                <a:close/>
              </a:path>
            </a:pathLst>
          </a:custGeom>
          <a:blipFill>
            <a:blip r:embed="rId12"/>
            <a:stretch>
              <a:fillRect l="0" t="0" r="0" b="0"/>
            </a:stretch>
          </a:blipFill>
        </p:spPr>
      </p:sp>
      <p:sp>
        <p:nvSpPr>
          <p:cNvPr name="Freeform 8" id="8"/>
          <p:cNvSpPr/>
          <p:nvPr/>
        </p:nvSpPr>
        <p:spPr>
          <a:xfrm flipH="false" flipV="false" rot="0">
            <a:off x="2071788" y="6126292"/>
            <a:ext cx="471909" cy="450673"/>
          </a:xfrm>
          <a:custGeom>
            <a:avLst/>
            <a:gdLst/>
            <a:ahLst/>
            <a:cxnLst/>
            <a:rect r="r" b="b" t="t" l="l"/>
            <a:pathLst>
              <a:path h="450673" w="471909">
                <a:moveTo>
                  <a:pt x="0" y="0"/>
                </a:moveTo>
                <a:lnTo>
                  <a:pt x="471908" y="0"/>
                </a:lnTo>
                <a:lnTo>
                  <a:pt x="471908" y="450673"/>
                </a:lnTo>
                <a:lnTo>
                  <a:pt x="0" y="450673"/>
                </a:lnTo>
                <a:lnTo>
                  <a:pt x="0" y="0"/>
                </a:lnTo>
                <a:close/>
              </a:path>
            </a:pathLst>
          </a:custGeom>
          <a:blipFill>
            <a:blip r:embed="rId13"/>
            <a:stretch>
              <a:fillRect l="0" t="0" r="0" b="0"/>
            </a:stretch>
          </a:blipFill>
        </p:spPr>
      </p:sp>
      <p:sp>
        <p:nvSpPr>
          <p:cNvPr name="TextBox 9" id="9"/>
          <p:cNvSpPr txBox="true"/>
          <p:nvPr/>
        </p:nvSpPr>
        <p:spPr>
          <a:xfrm rot="0">
            <a:off x="2613424" y="6078667"/>
            <a:ext cx="2899938" cy="495906"/>
          </a:xfrm>
          <a:prstGeom prst="rect">
            <a:avLst/>
          </a:prstGeom>
        </p:spPr>
        <p:txBody>
          <a:bodyPr anchor="t" rtlCol="false" tIns="0" lIns="0" bIns="0" rIns="0">
            <a:spAutoFit/>
          </a:bodyPr>
          <a:lstStyle/>
          <a:p>
            <a:pPr algn="l">
              <a:lnSpc>
                <a:spcPts val="4166"/>
              </a:lnSpc>
            </a:pPr>
            <a:r>
              <a:rPr lang="en-US" b="true" sz="2976">
                <a:solidFill>
                  <a:srgbClr val="E9480D"/>
                </a:solidFill>
                <a:latin typeface="Red Hat Display Bold"/>
                <a:ea typeface="Red Hat Display Bold"/>
                <a:cs typeface="Red Hat Display Bold"/>
                <a:sym typeface="Red Hat Display Bold"/>
              </a:rPr>
              <a:t>R</a:t>
            </a:r>
            <a:r>
              <a:rPr lang="en-US" b="true" sz="2976">
                <a:solidFill>
                  <a:srgbClr val="E9480D"/>
                </a:solidFill>
                <a:latin typeface="Red Hat Display Bold"/>
                <a:ea typeface="Red Hat Display Bold"/>
                <a:cs typeface="Red Hat Display Bold"/>
                <a:sym typeface="Red Hat Display Bold"/>
              </a:rPr>
              <a:t>BI based study</a:t>
            </a:r>
          </a:p>
        </p:txBody>
      </p:sp>
      <p:sp>
        <p:nvSpPr>
          <p:cNvPr name="TextBox 10" id="10"/>
          <p:cNvSpPr txBox="true"/>
          <p:nvPr/>
        </p:nvSpPr>
        <p:spPr>
          <a:xfrm rot="0">
            <a:off x="2071788" y="3908397"/>
            <a:ext cx="8114734" cy="2217895"/>
          </a:xfrm>
          <a:prstGeom prst="rect">
            <a:avLst/>
          </a:prstGeom>
        </p:spPr>
        <p:txBody>
          <a:bodyPr anchor="t" rtlCol="false" tIns="0" lIns="0" bIns="0" rIns="0">
            <a:spAutoFit/>
          </a:bodyPr>
          <a:lstStyle/>
          <a:p>
            <a:pPr algn="l">
              <a:lnSpc>
                <a:spcPts val="8800"/>
              </a:lnSpc>
            </a:pPr>
            <a:r>
              <a:rPr lang="en-US" b="true" sz="7074">
                <a:solidFill>
                  <a:srgbClr val="2D2261"/>
                </a:solidFill>
                <a:latin typeface="Red Hat Display Bold"/>
                <a:ea typeface="Red Hat Display Bold"/>
                <a:cs typeface="Red Hat Display Bold"/>
                <a:sym typeface="Red Hat Display Bold"/>
              </a:rPr>
              <a:t>Exchange Rate Volatility</a:t>
            </a:r>
          </a:p>
        </p:txBody>
      </p:sp>
      <p:sp>
        <p:nvSpPr>
          <p:cNvPr name="TextBox 11" id="11"/>
          <p:cNvSpPr txBox="true"/>
          <p:nvPr/>
        </p:nvSpPr>
        <p:spPr>
          <a:xfrm rot="-273479">
            <a:off x="1915165" y="2956320"/>
            <a:ext cx="3552518" cy="1291011"/>
          </a:xfrm>
          <a:prstGeom prst="rect">
            <a:avLst/>
          </a:prstGeom>
        </p:spPr>
        <p:txBody>
          <a:bodyPr anchor="t" rtlCol="false" tIns="0" lIns="0" bIns="0" rIns="0">
            <a:spAutoFit/>
          </a:bodyPr>
          <a:lstStyle/>
          <a:p>
            <a:pPr algn="ctr">
              <a:lnSpc>
                <a:spcPts val="10405"/>
              </a:lnSpc>
            </a:pPr>
            <a:r>
              <a:rPr lang="en-US" sz="7432">
                <a:solidFill>
                  <a:srgbClr val="E9480D"/>
                </a:solidFill>
                <a:latin typeface="Palm Club"/>
                <a:ea typeface="Palm Club"/>
                <a:cs typeface="Palm Club"/>
                <a:sym typeface="Palm Club"/>
              </a:rPr>
              <a:t>India’s</a:t>
            </a:r>
          </a:p>
        </p:txBody>
      </p:sp>
      <p:sp>
        <p:nvSpPr>
          <p:cNvPr name="TextBox 12" id="12"/>
          <p:cNvSpPr txBox="true"/>
          <p:nvPr/>
        </p:nvSpPr>
        <p:spPr>
          <a:xfrm rot="0">
            <a:off x="10453754" y="2482436"/>
            <a:ext cx="1276940" cy="496183"/>
          </a:xfrm>
          <a:prstGeom prst="rect">
            <a:avLst/>
          </a:prstGeom>
        </p:spPr>
        <p:txBody>
          <a:bodyPr anchor="t" rtlCol="false" tIns="0" lIns="0" bIns="0" rIns="0">
            <a:spAutoFit/>
          </a:bodyPr>
          <a:lstStyle/>
          <a:p>
            <a:pPr algn="ctr">
              <a:lnSpc>
                <a:spcPts val="4042"/>
              </a:lnSpc>
            </a:pPr>
            <a:r>
              <a:rPr lang="en-US" b="true" sz="2887">
                <a:solidFill>
                  <a:srgbClr val="000000"/>
                </a:solidFill>
                <a:latin typeface="Red Hat Display Bold"/>
                <a:ea typeface="Red Hat Display Bold"/>
                <a:cs typeface="Red Hat Display Bold"/>
                <a:sym typeface="Red Hat Display Bold"/>
              </a:rPr>
              <a:t>Phase 1</a:t>
            </a:r>
          </a:p>
        </p:txBody>
      </p:sp>
      <p:sp>
        <p:nvSpPr>
          <p:cNvPr name="TextBox 13" id="13"/>
          <p:cNvSpPr txBox="true"/>
          <p:nvPr/>
        </p:nvSpPr>
        <p:spPr>
          <a:xfrm rot="0">
            <a:off x="12638306" y="2482436"/>
            <a:ext cx="1493940" cy="496183"/>
          </a:xfrm>
          <a:prstGeom prst="rect">
            <a:avLst/>
          </a:prstGeom>
        </p:spPr>
        <p:txBody>
          <a:bodyPr anchor="t" rtlCol="false" tIns="0" lIns="0" bIns="0" rIns="0">
            <a:spAutoFit/>
          </a:bodyPr>
          <a:lstStyle/>
          <a:p>
            <a:pPr algn="ctr">
              <a:lnSpc>
                <a:spcPts val="4042"/>
              </a:lnSpc>
            </a:pPr>
            <a:r>
              <a:rPr lang="en-US" b="true" sz="2887">
                <a:solidFill>
                  <a:srgbClr val="000000"/>
                </a:solidFill>
                <a:latin typeface="Red Hat Display Bold"/>
                <a:ea typeface="Red Hat Display Bold"/>
                <a:cs typeface="Red Hat Display Bold"/>
                <a:sym typeface="Red Hat Display Bold"/>
              </a:rPr>
              <a:t>Phase 2</a:t>
            </a:r>
          </a:p>
        </p:txBody>
      </p:sp>
      <p:sp>
        <p:nvSpPr>
          <p:cNvPr name="TextBox 14" id="14"/>
          <p:cNvSpPr txBox="true"/>
          <p:nvPr/>
        </p:nvSpPr>
        <p:spPr>
          <a:xfrm rot="0">
            <a:off x="14945743" y="2482436"/>
            <a:ext cx="1399854" cy="496183"/>
          </a:xfrm>
          <a:prstGeom prst="rect">
            <a:avLst/>
          </a:prstGeom>
        </p:spPr>
        <p:txBody>
          <a:bodyPr anchor="t" rtlCol="false" tIns="0" lIns="0" bIns="0" rIns="0">
            <a:spAutoFit/>
          </a:bodyPr>
          <a:lstStyle/>
          <a:p>
            <a:pPr algn="ctr">
              <a:lnSpc>
                <a:spcPts val="4042"/>
              </a:lnSpc>
            </a:pPr>
            <a:r>
              <a:rPr lang="en-US" b="true" sz="2887">
                <a:solidFill>
                  <a:srgbClr val="000000"/>
                </a:solidFill>
                <a:latin typeface="Red Hat Display Bold"/>
                <a:ea typeface="Red Hat Display Bold"/>
                <a:cs typeface="Red Hat Display Bold"/>
                <a:sym typeface="Red Hat Display Bold"/>
              </a:rPr>
              <a:t>Phase 3</a:t>
            </a:r>
          </a:p>
        </p:txBody>
      </p:sp>
      <p:sp>
        <p:nvSpPr>
          <p:cNvPr name="TextBox 15" id="15"/>
          <p:cNvSpPr txBox="true"/>
          <p:nvPr/>
        </p:nvSpPr>
        <p:spPr>
          <a:xfrm rot="0">
            <a:off x="10412470" y="3072037"/>
            <a:ext cx="1359509" cy="321170"/>
          </a:xfrm>
          <a:prstGeom prst="rect">
            <a:avLst/>
          </a:prstGeom>
        </p:spPr>
        <p:txBody>
          <a:bodyPr anchor="t" rtlCol="false" tIns="0" lIns="0" bIns="0" rIns="0">
            <a:spAutoFit/>
          </a:bodyPr>
          <a:lstStyle/>
          <a:p>
            <a:pPr algn="l">
              <a:lnSpc>
                <a:spcPts val="2631"/>
              </a:lnSpc>
            </a:pPr>
            <a:r>
              <a:rPr lang="en-US" b="true" sz="1879">
                <a:solidFill>
                  <a:srgbClr val="313030"/>
                </a:solidFill>
                <a:latin typeface="Red Hat Display Bold"/>
                <a:ea typeface="Red Hat Display Bold"/>
                <a:cs typeface="Red Hat Display Bold"/>
                <a:sym typeface="Red Hat Display Bold"/>
              </a:rPr>
              <a:t>1960 - 1990</a:t>
            </a:r>
          </a:p>
        </p:txBody>
      </p:sp>
      <p:sp>
        <p:nvSpPr>
          <p:cNvPr name="TextBox 16" id="16"/>
          <p:cNvSpPr txBox="true"/>
          <p:nvPr/>
        </p:nvSpPr>
        <p:spPr>
          <a:xfrm rot="0">
            <a:off x="12705522" y="3072037"/>
            <a:ext cx="1535224" cy="321170"/>
          </a:xfrm>
          <a:prstGeom prst="rect">
            <a:avLst/>
          </a:prstGeom>
        </p:spPr>
        <p:txBody>
          <a:bodyPr anchor="t" rtlCol="false" tIns="0" lIns="0" bIns="0" rIns="0">
            <a:spAutoFit/>
          </a:bodyPr>
          <a:lstStyle/>
          <a:p>
            <a:pPr algn="l">
              <a:lnSpc>
                <a:spcPts val="2631"/>
              </a:lnSpc>
            </a:pPr>
            <a:r>
              <a:rPr lang="en-US" b="true" sz="1879">
                <a:solidFill>
                  <a:srgbClr val="313030"/>
                </a:solidFill>
                <a:latin typeface="Red Hat Display Bold"/>
                <a:ea typeface="Red Hat Display Bold"/>
                <a:cs typeface="Red Hat Display Bold"/>
                <a:sym typeface="Red Hat Display Bold"/>
              </a:rPr>
              <a:t>1990 - 2000</a:t>
            </a:r>
          </a:p>
        </p:txBody>
      </p:sp>
      <p:sp>
        <p:nvSpPr>
          <p:cNvPr name="TextBox 17" id="17"/>
          <p:cNvSpPr txBox="true"/>
          <p:nvPr/>
        </p:nvSpPr>
        <p:spPr>
          <a:xfrm rot="0">
            <a:off x="14905134" y="3072037"/>
            <a:ext cx="1575768" cy="321170"/>
          </a:xfrm>
          <a:prstGeom prst="rect">
            <a:avLst/>
          </a:prstGeom>
        </p:spPr>
        <p:txBody>
          <a:bodyPr anchor="t" rtlCol="false" tIns="0" lIns="0" bIns="0" rIns="0">
            <a:spAutoFit/>
          </a:bodyPr>
          <a:lstStyle/>
          <a:p>
            <a:pPr algn="l">
              <a:lnSpc>
                <a:spcPts val="2631"/>
              </a:lnSpc>
            </a:pPr>
            <a:r>
              <a:rPr lang="en-US" b="true" sz="1879">
                <a:solidFill>
                  <a:srgbClr val="313030"/>
                </a:solidFill>
                <a:latin typeface="Red Hat Display Bold"/>
                <a:ea typeface="Red Hat Display Bold"/>
                <a:cs typeface="Red Hat Display Bold"/>
                <a:sym typeface="Red Hat Display Bold"/>
              </a:rPr>
              <a:t>2000 - 2024</a:t>
            </a:r>
          </a:p>
        </p:txBody>
      </p:sp>
      <p:sp>
        <p:nvSpPr>
          <p:cNvPr name="TextBox 18" id="18"/>
          <p:cNvSpPr txBox="true"/>
          <p:nvPr/>
        </p:nvSpPr>
        <p:spPr>
          <a:xfrm rot="0">
            <a:off x="152122" y="9663150"/>
            <a:ext cx="7091472" cy="477591"/>
          </a:xfrm>
          <a:prstGeom prst="rect">
            <a:avLst/>
          </a:prstGeom>
        </p:spPr>
        <p:txBody>
          <a:bodyPr anchor="t" rtlCol="false" tIns="0" lIns="0" bIns="0" rIns="0">
            <a:spAutoFit/>
          </a:bodyPr>
          <a:lstStyle/>
          <a:p>
            <a:pPr algn="l">
              <a:lnSpc>
                <a:spcPts val="3907"/>
              </a:lnSpc>
            </a:pPr>
            <a:r>
              <a:rPr lang="en-US" b="true" sz="2791">
                <a:solidFill>
                  <a:srgbClr val="363636"/>
                </a:solidFill>
                <a:latin typeface="Red Hat Display Bold"/>
                <a:ea typeface="Red Hat Display Bold"/>
                <a:cs typeface="Red Hat Display Bold"/>
                <a:sym typeface="Red Hat Display Bold"/>
              </a:rPr>
              <a:t>RAVISH BENIWAL  &amp;   KRISHNA CHARAN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6959307" y="6367532"/>
            <a:ext cx="718829" cy="718829"/>
          </a:xfrm>
          <a:custGeom>
            <a:avLst/>
            <a:gdLst/>
            <a:ahLst/>
            <a:cxnLst/>
            <a:rect r="r" b="b" t="t" l="l"/>
            <a:pathLst>
              <a:path h="718829" w="718829">
                <a:moveTo>
                  <a:pt x="0" y="0"/>
                </a:moveTo>
                <a:lnTo>
                  <a:pt x="718829" y="0"/>
                </a:lnTo>
                <a:lnTo>
                  <a:pt x="718829" y="718830"/>
                </a:lnTo>
                <a:lnTo>
                  <a:pt x="0" y="71883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9307" y="7298463"/>
            <a:ext cx="718829" cy="718829"/>
          </a:xfrm>
          <a:custGeom>
            <a:avLst/>
            <a:gdLst/>
            <a:ahLst/>
            <a:cxnLst/>
            <a:rect r="r" b="b" t="t" l="l"/>
            <a:pathLst>
              <a:path h="718829" w="718829">
                <a:moveTo>
                  <a:pt x="0" y="0"/>
                </a:moveTo>
                <a:lnTo>
                  <a:pt x="718829" y="0"/>
                </a:lnTo>
                <a:lnTo>
                  <a:pt x="718829" y="718829"/>
                </a:lnTo>
                <a:lnTo>
                  <a:pt x="0" y="718829"/>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977639" y="8230393"/>
            <a:ext cx="718829" cy="718829"/>
          </a:xfrm>
          <a:custGeom>
            <a:avLst/>
            <a:gdLst/>
            <a:ahLst/>
            <a:cxnLst/>
            <a:rect r="r" b="b" t="t" l="l"/>
            <a:pathLst>
              <a:path h="718829" w="718829">
                <a:moveTo>
                  <a:pt x="0" y="0"/>
                </a:moveTo>
                <a:lnTo>
                  <a:pt x="718829" y="0"/>
                </a:lnTo>
                <a:lnTo>
                  <a:pt x="718829" y="718830"/>
                </a:lnTo>
                <a:lnTo>
                  <a:pt x="0" y="71883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7050898" y="6459123"/>
            <a:ext cx="535647" cy="5356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7050898" y="7390054"/>
            <a:ext cx="535647" cy="53564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7069230" y="8321985"/>
            <a:ext cx="535647" cy="53564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14" id="14"/>
          <p:cNvSpPr/>
          <p:nvPr/>
        </p:nvSpPr>
        <p:spPr>
          <a:xfrm flipH="false" flipV="false" rot="0">
            <a:off x="282425" y="3366111"/>
            <a:ext cx="4899276" cy="3623338"/>
          </a:xfrm>
          <a:custGeom>
            <a:avLst/>
            <a:gdLst/>
            <a:ahLst/>
            <a:cxnLst/>
            <a:rect r="r" b="b" t="t" l="l"/>
            <a:pathLst>
              <a:path h="3623338" w="4899276">
                <a:moveTo>
                  <a:pt x="0" y="0"/>
                </a:moveTo>
                <a:lnTo>
                  <a:pt x="4899277" y="0"/>
                </a:lnTo>
                <a:lnTo>
                  <a:pt x="4899277" y="3623338"/>
                </a:lnTo>
                <a:lnTo>
                  <a:pt x="0" y="3623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226878">
            <a:off x="-2288071" y="-123302"/>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282425" y="2604065"/>
            <a:ext cx="6088044" cy="4709956"/>
          </a:xfrm>
          <a:custGeom>
            <a:avLst/>
            <a:gdLst/>
            <a:ahLst/>
            <a:cxnLst/>
            <a:rect r="r" b="b" t="t" l="l"/>
            <a:pathLst>
              <a:path h="4709956" w="6088044">
                <a:moveTo>
                  <a:pt x="0" y="0"/>
                </a:moveTo>
                <a:lnTo>
                  <a:pt x="6088044" y="0"/>
                </a:lnTo>
                <a:lnTo>
                  <a:pt x="6088044" y="4709956"/>
                </a:lnTo>
                <a:lnTo>
                  <a:pt x="0" y="4709956"/>
                </a:lnTo>
                <a:lnTo>
                  <a:pt x="0" y="0"/>
                </a:lnTo>
                <a:close/>
              </a:path>
            </a:pathLst>
          </a:custGeom>
          <a:blipFill>
            <a:blip r:embed="rId14"/>
            <a:stretch>
              <a:fillRect l="-9472" t="0" r="-6646" b="0"/>
            </a:stretch>
          </a:blipFill>
        </p:spPr>
      </p:sp>
      <p:sp>
        <p:nvSpPr>
          <p:cNvPr name="TextBox 20" id="20"/>
          <p:cNvSpPr txBox="true"/>
          <p:nvPr/>
        </p:nvSpPr>
        <p:spPr>
          <a:xfrm rot="0">
            <a:off x="7050898" y="6595258"/>
            <a:ext cx="499396" cy="262881"/>
          </a:xfrm>
          <a:prstGeom prst="rect">
            <a:avLst/>
          </a:prstGeom>
        </p:spPr>
        <p:txBody>
          <a:bodyPr anchor="t" rtlCol="false" tIns="0" lIns="0" bIns="0" rIns="0">
            <a:spAutoFit/>
          </a:bodyPr>
          <a:lstStyle/>
          <a:p>
            <a:pPr algn="ctr">
              <a:lnSpc>
                <a:spcPts val="2071"/>
              </a:lnSpc>
            </a:pPr>
            <a:r>
              <a:rPr lang="en-US" b="true" sz="1664">
                <a:solidFill>
                  <a:srgbClr val="2D2261"/>
                </a:solidFill>
                <a:latin typeface="Red Hat Display Bold"/>
                <a:ea typeface="Red Hat Display Bold"/>
                <a:cs typeface="Red Hat Display Bold"/>
                <a:sym typeface="Red Hat Display Bold"/>
              </a:rPr>
              <a:t>01</a:t>
            </a:r>
          </a:p>
        </p:txBody>
      </p:sp>
      <p:sp>
        <p:nvSpPr>
          <p:cNvPr name="TextBox 21" id="21"/>
          <p:cNvSpPr txBox="true"/>
          <p:nvPr/>
        </p:nvSpPr>
        <p:spPr>
          <a:xfrm rot="0">
            <a:off x="7069024" y="7521674"/>
            <a:ext cx="499396" cy="262881"/>
          </a:xfrm>
          <a:prstGeom prst="rect">
            <a:avLst/>
          </a:prstGeom>
        </p:spPr>
        <p:txBody>
          <a:bodyPr anchor="t" rtlCol="false" tIns="0" lIns="0" bIns="0" rIns="0">
            <a:spAutoFit/>
          </a:bodyPr>
          <a:lstStyle/>
          <a:p>
            <a:pPr algn="ctr">
              <a:lnSpc>
                <a:spcPts val="2071"/>
              </a:lnSpc>
            </a:pPr>
            <a:r>
              <a:rPr lang="en-US" b="true" sz="1664">
                <a:solidFill>
                  <a:srgbClr val="2D2261"/>
                </a:solidFill>
                <a:latin typeface="Red Hat Display Bold"/>
                <a:ea typeface="Red Hat Display Bold"/>
                <a:cs typeface="Red Hat Display Bold"/>
                <a:sym typeface="Red Hat Display Bold"/>
              </a:rPr>
              <a:t>02</a:t>
            </a:r>
          </a:p>
        </p:txBody>
      </p:sp>
      <p:sp>
        <p:nvSpPr>
          <p:cNvPr name="TextBox 22" id="22"/>
          <p:cNvSpPr txBox="true"/>
          <p:nvPr/>
        </p:nvSpPr>
        <p:spPr>
          <a:xfrm rot="0">
            <a:off x="7087356" y="8453605"/>
            <a:ext cx="499396" cy="262881"/>
          </a:xfrm>
          <a:prstGeom prst="rect">
            <a:avLst/>
          </a:prstGeom>
        </p:spPr>
        <p:txBody>
          <a:bodyPr anchor="t" rtlCol="false" tIns="0" lIns="0" bIns="0" rIns="0">
            <a:spAutoFit/>
          </a:bodyPr>
          <a:lstStyle/>
          <a:p>
            <a:pPr algn="ctr">
              <a:lnSpc>
                <a:spcPts val="2071"/>
              </a:lnSpc>
            </a:pPr>
            <a:r>
              <a:rPr lang="en-US" b="true" sz="1664">
                <a:solidFill>
                  <a:srgbClr val="2D2261"/>
                </a:solidFill>
                <a:latin typeface="Red Hat Display Bold"/>
                <a:ea typeface="Red Hat Display Bold"/>
                <a:cs typeface="Red Hat Display Bold"/>
                <a:sym typeface="Red Hat Display Bold"/>
              </a:rPr>
              <a:t>03</a:t>
            </a:r>
          </a:p>
        </p:txBody>
      </p:sp>
      <p:sp>
        <p:nvSpPr>
          <p:cNvPr name="TextBox 23" id="23"/>
          <p:cNvSpPr txBox="true"/>
          <p:nvPr/>
        </p:nvSpPr>
        <p:spPr>
          <a:xfrm rot="0">
            <a:off x="6714703" y="3173285"/>
            <a:ext cx="11573297" cy="1725533"/>
          </a:xfrm>
          <a:prstGeom prst="rect">
            <a:avLst/>
          </a:prstGeom>
        </p:spPr>
        <p:txBody>
          <a:bodyPr anchor="t" rtlCol="false" tIns="0" lIns="0" bIns="0" rIns="0">
            <a:spAutoFit/>
          </a:bodyPr>
          <a:lstStyle/>
          <a:p>
            <a:pPr algn="l">
              <a:lnSpc>
                <a:spcPts val="4641"/>
              </a:lnSpc>
            </a:pPr>
            <a:r>
              <a:rPr lang="en-US" sz="3315">
                <a:solidFill>
                  <a:srgbClr val="000000"/>
                </a:solidFill>
                <a:latin typeface="Red Hat Display"/>
                <a:ea typeface="Red Hat Display"/>
                <a:cs typeface="Red Hat Display"/>
                <a:sym typeface="Red Hat Display"/>
              </a:rPr>
              <a:t>Exchange rate volatility refers to how much and how frequently a currency’s value changes against another currency (for us, INR vs USD).</a:t>
            </a:r>
          </a:p>
        </p:txBody>
      </p:sp>
      <p:sp>
        <p:nvSpPr>
          <p:cNvPr name="TextBox 24" id="24"/>
          <p:cNvSpPr txBox="true"/>
          <p:nvPr/>
        </p:nvSpPr>
        <p:spPr>
          <a:xfrm rot="0">
            <a:off x="6636369" y="1193267"/>
            <a:ext cx="7967026" cy="1798372"/>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What is Exchange Rate Volatility?</a:t>
            </a:r>
          </a:p>
        </p:txBody>
      </p:sp>
      <p:sp>
        <p:nvSpPr>
          <p:cNvPr name="TextBox 25" id="25"/>
          <p:cNvSpPr txBox="true"/>
          <p:nvPr/>
        </p:nvSpPr>
        <p:spPr>
          <a:xfrm rot="0">
            <a:off x="6370469" y="5405559"/>
            <a:ext cx="11529236" cy="480131"/>
          </a:xfrm>
          <a:prstGeom prst="rect">
            <a:avLst/>
          </a:prstGeom>
        </p:spPr>
        <p:txBody>
          <a:bodyPr anchor="t" rtlCol="false" tIns="0" lIns="0" bIns="0" rIns="0">
            <a:spAutoFit/>
          </a:bodyPr>
          <a:lstStyle/>
          <a:p>
            <a:pPr algn="ctr">
              <a:lnSpc>
                <a:spcPts val="3536"/>
              </a:lnSpc>
            </a:pPr>
            <a:r>
              <a:rPr lang="en-US" b="true" sz="3722" spc="174">
                <a:solidFill>
                  <a:srgbClr val="000000"/>
                </a:solidFill>
                <a:latin typeface="Red Hat Display Bold"/>
                <a:ea typeface="Red Hat Display Bold"/>
                <a:cs typeface="Red Hat Display Bold"/>
                <a:sym typeface="Red Hat Display Bold"/>
              </a:rPr>
              <a:t>Our main factors to Analyse Exchange rate</a:t>
            </a:r>
          </a:p>
        </p:txBody>
      </p:sp>
      <p:sp>
        <p:nvSpPr>
          <p:cNvPr name="TextBox 26" id="26"/>
          <p:cNvSpPr txBox="true"/>
          <p:nvPr/>
        </p:nvSpPr>
        <p:spPr>
          <a:xfrm rot="0">
            <a:off x="7568420" y="6569618"/>
            <a:ext cx="3050809" cy="418934"/>
          </a:xfrm>
          <a:prstGeom prst="rect">
            <a:avLst/>
          </a:prstGeom>
        </p:spPr>
        <p:txBody>
          <a:bodyPr anchor="t" rtlCol="false" tIns="0" lIns="0" bIns="0" rIns="0">
            <a:spAutoFit/>
          </a:bodyPr>
          <a:lstStyle/>
          <a:p>
            <a:pPr algn="ctr" marL="0" indent="0" lvl="0">
              <a:lnSpc>
                <a:spcPts val="2911"/>
              </a:lnSpc>
            </a:pPr>
            <a:r>
              <a:rPr lang="en-US" sz="3424">
                <a:solidFill>
                  <a:srgbClr val="000000"/>
                </a:solidFill>
                <a:latin typeface="Roboto"/>
                <a:ea typeface="Roboto"/>
                <a:cs typeface="Roboto"/>
                <a:sym typeface="Roboto"/>
              </a:rPr>
              <a:t>Inflation Rate</a:t>
            </a:r>
          </a:p>
        </p:txBody>
      </p:sp>
      <p:sp>
        <p:nvSpPr>
          <p:cNvPr name="TextBox 27" id="27"/>
          <p:cNvSpPr txBox="true"/>
          <p:nvPr/>
        </p:nvSpPr>
        <p:spPr>
          <a:xfrm rot="0">
            <a:off x="7604877" y="7504128"/>
            <a:ext cx="3804409" cy="418934"/>
          </a:xfrm>
          <a:prstGeom prst="rect">
            <a:avLst/>
          </a:prstGeom>
        </p:spPr>
        <p:txBody>
          <a:bodyPr anchor="t" rtlCol="false" tIns="0" lIns="0" bIns="0" rIns="0">
            <a:spAutoFit/>
          </a:bodyPr>
          <a:lstStyle/>
          <a:p>
            <a:pPr algn="ctr" marL="0" indent="0" lvl="0">
              <a:lnSpc>
                <a:spcPts val="2911"/>
              </a:lnSpc>
            </a:pPr>
            <a:r>
              <a:rPr lang="en-US" sz="3424">
                <a:solidFill>
                  <a:srgbClr val="000000"/>
                </a:solidFill>
                <a:latin typeface="Roboto"/>
                <a:ea typeface="Roboto"/>
                <a:cs typeface="Roboto"/>
                <a:sym typeface="Roboto"/>
              </a:rPr>
              <a:t>GDP Growth Rate</a:t>
            </a:r>
          </a:p>
        </p:txBody>
      </p:sp>
      <p:sp>
        <p:nvSpPr>
          <p:cNvPr name="TextBox 28" id="28"/>
          <p:cNvSpPr txBox="true"/>
          <p:nvPr/>
        </p:nvSpPr>
        <p:spPr>
          <a:xfrm rot="0">
            <a:off x="7112726" y="8360192"/>
            <a:ext cx="3962198" cy="418934"/>
          </a:xfrm>
          <a:prstGeom prst="rect">
            <a:avLst/>
          </a:prstGeom>
        </p:spPr>
        <p:txBody>
          <a:bodyPr anchor="t" rtlCol="false" tIns="0" lIns="0" bIns="0" rIns="0">
            <a:spAutoFit/>
          </a:bodyPr>
          <a:lstStyle/>
          <a:p>
            <a:pPr algn="ctr" marL="0" indent="0" lvl="0">
              <a:lnSpc>
                <a:spcPts val="2911"/>
              </a:lnSpc>
            </a:pPr>
            <a:r>
              <a:rPr lang="en-US" sz="3424">
                <a:solidFill>
                  <a:srgbClr val="000000"/>
                </a:solidFill>
                <a:latin typeface="Roboto"/>
                <a:ea typeface="Roboto"/>
                <a:cs typeface="Roboto"/>
                <a:sym typeface="Roboto"/>
              </a:rPr>
              <a:t>Trade Deficit </a:t>
            </a:r>
          </a:p>
        </p:txBody>
      </p:sp>
      <p:sp>
        <p:nvSpPr>
          <p:cNvPr name="TextBox 29" id="29"/>
          <p:cNvSpPr txBox="true"/>
          <p:nvPr/>
        </p:nvSpPr>
        <p:spPr>
          <a:xfrm rot="0">
            <a:off x="7807195" y="8790957"/>
            <a:ext cx="2812034" cy="465480"/>
          </a:xfrm>
          <a:prstGeom prst="rect">
            <a:avLst/>
          </a:prstGeom>
        </p:spPr>
        <p:txBody>
          <a:bodyPr anchor="t" rtlCol="false" tIns="0" lIns="0" bIns="0" rIns="0">
            <a:spAutoFit/>
          </a:bodyPr>
          <a:lstStyle/>
          <a:p>
            <a:pPr algn="l">
              <a:lnSpc>
                <a:spcPts val="3743"/>
              </a:lnSpc>
            </a:pPr>
            <a:r>
              <a:rPr lang="en-US" sz="2674">
                <a:solidFill>
                  <a:srgbClr val="000000"/>
                </a:solidFill>
                <a:latin typeface="Roboto"/>
                <a:ea typeface="Roboto"/>
                <a:cs typeface="Roboto"/>
                <a:sym typeface="Roboto"/>
              </a:rPr>
              <a:t>(Import - Export)</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8769676" y="-4000028"/>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624874">
            <a:off x="-1345023" y="93731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870264" y="-1577160"/>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3766" y="544489"/>
            <a:ext cx="15360468" cy="9198022"/>
          </a:xfrm>
          <a:custGeom>
            <a:avLst/>
            <a:gdLst/>
            <a:ahLst/>
            <a:cxnLst/>
            <a:rect r="r" b="b" t="t" l="l"/>
            <a:pathLst>
              <a:path h="9198022" w="15360468">
                <a:moveTo>
                  <a:pt x="0" y="0"/>
                </a:moveTo>
                <a:lnTo>
                  <a:pt x="15360468" y="0"/>
                </a:lnTo>
                <a:lnTo>
                  <a:pt x="15360468" y="9198022"/>
                </a:lnTo>
                <a:lnTo>
                  <a:pt x="0" y="9198022"/>
                </a:lnTo>
                <a:lnTo>
                  <a:pt x="0" y="0"/>
                </a:lnTo>
                <a:close/>
              </a:path>
            </a:pathLst>
          </a:custGeom>
          <a:blipFill>
            <a:blip r:embed="rId8"/>
            <a:stretch>
              <a:fillRect l="0" t="0" r="0" b="0"/>
            </a:stretch>
          </a:blipFill>
        </p:spPr>
      </p:sp>
      <p:sp>
        <p:nvSpPr>
          <p:cNvPr name="Freeform 6" id="6"/>
          <p:cNvSpPr/>
          <p:nvPr/>
        </p:nvSpPr>
        <p:spPr>
          <a:xfrm flipH="false" flipV="false" rot="0">
            <a:off x="10928132" y="4136764"/>
            <a:ext cx="3250515" cy="1600879"/>
          </a:xfrm>
          <a:custGeom>
            <a:avLst/>
            <a:gdLst/>
            <a:ahLst/>
            <a:cxnLst/>
            <a:rect r="r" b="b" t="t" l="l"/>
            <a:pathLst>
              <a:path h="1600879" w="3250515">
                <a:moveTo>
                  <a:pt x="0" y="0"/>
                </a:moveTo>
                <a:lnTo>
                  <a:pt x="3250515" y="0"/>
                </a:lnTo>
                <a:lnTo>
                  <a:pt x="3250515" y="1600879"/>
                </a:lnTo>
                <a:lnTo>
                  <a:pt x="0" y="16008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false" rot="0">
            <a:off x="9144000" y="1633011"/>
            <a:ext cx="4261708" cy="2503754"/>
          </a:xfrm>
          <a:custGeom>
            <a:avLst/>
            <a:gdLst/>
            <a:ahLst/>
            <a:cxnLst/>
            <a:rect r="r" b="b" t="t" l="l"/>
            <a:pathLst>
              <a:path h="2503754" w="4261708">
                <a:moveTo>
                  <a:pt x="4261708" y="0"/>
                </a:moveTo>
                <a:lnTo>
                  <a:pt x="0" y="0"/>
                </a:lnTo>
                <a:lnTo>
                  <a:pt x="0" y="2503753"/>
                </a:lnTo>
                <a:lnTo>
                  <a:pt x="4261708" y="2503753"/>
                </a:lnTo>
                <a:lnTo>
                  <a:pt x="426170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9020403" y="1585386"/>
            <a:ext cx="4261708" cy="2222595"/>
          </a:xfrm>
          <a:prstGeom prst="rect">
            <a:avLst/>
          </a:prstGeom>
        </p:spPr>
        <p:txBody>
          <a:bodyPr anchor="t" rtlCol="false" tIns="0" lIns="0" bIns="0" rIns="0">
            <a:spAutoFit/>
          </a:bodyPr>
          <a:lstStyle/>
          <a:p>
            <a:pPr algn="ctr">
              <a:lnSpc>
                <a:spcPts val="2991"/>
              </a:lnSpc>
            </a:pPr>
          </a:p>
          <a:p>
            <a:pPr algn="l" marL="461265" indent="-230633" lvl="1">
              <a:lnSpc>
                <a:spcPts val="2991"/>
              </a:lnSpc>
              <a:buFont typeface="Arial"/>
              <a:buChar char="•"/>
            </a:pPr>
            <a:r>
              <a:rPr lang="en-US" b="true" sz="2136">
                <a:solidFill>
                  <a:srgbClr val="000000"/>
                </a:solidFill>
                <a:latin typeface="Roboto Bold"/>
                <a:ea typeface="Roboto Bold"/>
                <a:cs typeface="Roboto Bold"/>
                <a:sym typeface="Roboto Bold"/>
              </a:rPr>
              <a:t>GDP increase (8-9%) in India</a:t>
            </a:r>
          </a:p>
          <a:p>
            <a:pPr algn="just" marL="461265" indent="-230633" lvl="1">
              <a:lnSpc>
                <a:spcPts val="2991"/>
              </a:lnSpc>
              <a:buFont typeface="Arial"/>
              <a:buChar char="•"/>
            </a:pPr>
            <a:r>
              <a:rPr lang="en-US" b="true" sz="2136">
                <a:solidFill>
                  <a:srgbClr val="000000"/>
                </a:solidFill>
                <a:latin typeface="Roboto Bold"/>
                <a:ea typeface="Roboto Bold"/>
                <a:cs typeface="Roboto Bold"/>
                <a:sym typeface="Roboto Bold"/>
              </a:rPr>
              <a:t>Boom in IT Sector</a:t>
            </a:r>
          </a:p>
          <a:p>
            <a:pPr algn="just" marL="461265" indent="-230633" lvl="1">
              <a:lnSpc>
                <a:spcPts val="2991"/>
              </a:lnSpc>
              <a:buFont typeface="Arial"/>
              <a:buChar char="•"/>
            </a:pPr>
            <a:r>
              <a:rPr lang="en-US" b="true" sz="2136">
                <a:solidFill>
                  <a:srgbClr val="000000"/>
                </a:solidFill>
                <a:latin typeface="Roboto Bold"/>
                <a:ea typeface="Roboto Bold"/>
                <a:cs typeface="Roboto Bold"/>
                <a:sym typeface="Roboto Bold"/>
              </a:rPr>
              <a:t>US economy faced Iraq war in 2006</a:t>
            </a:r>
          </a:p>
          <a:p>
            <a:pPr algn="ctr">
              <a:lnSpc>
                <a:spcPts val="2991"/>
              </a:lnSpc>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645218" y="1386963"/>
            <a:ext cx="8994142"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Understanding  three phases </a:t>
            </a:r>
          </a:p>
        </p:txBody>
      </p:sp>
      <p:sp>
        <p:nvSpPr>
          <p:cNvPr name="Freeform 3" id="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509149" y="3753674"/>
            <a:ext cx="4518899" cy="5504626"/>
            <a:chOff x="0" y="0"/>
            <a:chExt cx="1069703" cy="1303042"/>
          </a:xfrm>
        </p:grpSpPr>
        <p:sp>
          <p:nvSpPr>
            <p:cNvPr name="Freeform 6" id="6"/>
            <p:cNvSpPr/>
            <p:nvPr/>
          </p:nvSpPr>
          <p:spPr>
            <a:xfrm flipH="false" flipV="false" rot="0">
              <a:off x="0" y="0"/>
              <a:ext cx="1069703" cy="1303042"/>
            </a:xfrm>
            <a:custGeom>
              <a:avLst/>
              <a:gdLst/>
              <a:ahLst/>
              <a:cxnLst/>
              <a:rect r="r" b="b" t="t" l="l"/>
              <a:pathLst>
                <a:path h="1303042" w="1069703">
                  <a:moveTo>
                    <a:pt x="51397" y="0"/>
                  </a:moveTo>
                  <a:lnTo>
                    <a:pt x="1018306" y="0"/>
                  </a:lnTo>
                  <a:cubicBezTo>
                    <a:pt x="1031937" y="0"/>
                    <a:pt x="1045010" y="5415"/>
                    <a:pt x="1054649" y="15054"/>
                  </a:cubicBezTo>
                  <a:cubicBezTo>
                    <a:pt x="1064288" y="24693"/>
                    <a:pt x="1069703" y="37766"/>
                    <a:pt x="1069703" y="51397"/>
                  </a:cubicBezTo>
                  <a:lnTo>
                    <a:pt x="1069703" y="1251645"/>
                  </a:lnTo>
                  <a:cubicBezTo>
                    <a:pt x="1069703" y="1265276"/>
                    <a:pt x="1064288" y="1278349"/>
                    <a:pt x="1054649" y="1287988"/>
                  </a:cubicBezTo>
                  <a:cubicBezTo>
                    <a:pt x="1045010" y="1297627"/>
                    <a:pt x="1031937" y="1303042"/>
                    <a:pt x="1018306" y="1303042"/>
                  </a:cubicBezTo>
                  <a:lnTo>
                    <a:pt x="51397" y="1303042"/>
                  </a:lnTo>
                  <a:cubicBezTo>
                    <a:pt x="37766" y="1303042"/>
                    <a:pt x="24693" y="1297627"/>
                    <a:pt x="15054" y="1287988"/>
                  </a:cubicBezTo>
                  <a:cubicBezTo>
                    <a:pt x="5415" y="1278349"/>
                    <a:pt x="0" y="1265276"/>
                    <a:pt x="0" y="1251645"/>
                  </a:cubicBezTo>
                  <a:lnTo>
                    <a:pt x="0" y="51397"/>
                  </a:lnTo>
                  <a:cubicBezTo>
                    <a:pt x="0" y="37766"/>
                    <a:pt x="5415" y="24693"/>
                    <a:pt x="15054" y="15054"/>
                  </a:cubicBezTo>
                  <a:cubicBezTo>
                    <a:pt x="24693" y="5415"/>
                    <a:pt x="37766" y="0"/>
                    <a:pt x="51397" y="0"/>
                  </a:cubicBezTo>
                  <a:close/>
                </a:path>
              </a:pathLst>
            </a:custGeom>
            <a:solidFill>
              <a:srgbClr val="ECE1D7"/>
            </a:solidFill>
          </p:spPr>
        </p:sp>
        <p:sp>
          <p:nvSpPr>
            <p:cNvPr name="TextBox 7" id="7"/>
            <p:cNvSpPr txBox="true"/>
            <p:nvPr/>
          </p:nvSpPr>
          <p:spPr>
            <a:xfrm>
              <a:off x="0" y="-47625"/>
              <a:ext cx="1069703" cy="1350667"/>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6882646" y="3753674"/>
            <a:ext cx="4518899" cy="5504626"/>
            <a:chOff x="0" y="0"/>
            <a:chExt cx="1069703" cy="1303042"/>
          </a:xfrm>
        </p:grpSpPr>
        <p:sp>
          <p:nvSpPr>
            <p:cNvPr name="Freeform 9" id="9"/>
            <p:cNvSpPr/>
            <p:nvPr/>
          </p:nvSpPr>
          <p:spPr>
            <a:xfrm flipH="false" flipV="false" rot="0">
              <a:off x="0" y="0"/>
              <a:ext cx="1069703" cy="1303042"/>
            </a:xfrm>
            <a:custGeom>
              <a:avLst/>
              <a:gdLst/>
              <a:ahLst/>
              <a:cxnLst/>
              <a:rect r="r" b="b" t="t" l="l"/>
              <a:pathLst>
                <a:path h="1303042" w="1069703">
                  <a:moveTo>
                    <a:pt x="51397" y="0"/>
                  </a:moveTo>
                  <a:lnTo>
                    <a:pt x="1018306" y="0"/>
                  </a:lnTo>
                  <a:cubicBezTo>
                    <a:pt x="1031937" y="0"/>
                    <a:pt x="1045010" y="5415"/>
                    <a:pt x="1054649" y="15054"/>
                  </a:cubicBezTo>
                  <a:cubicBezTo>
                    <a:pt x="1064288" y="24693"/>
                    <a:pt x="1069703" y="37766"/>
                    <a:pt x="1069703" y="51397"/>
                  </a:cubicBezTo>
                  <a:lnTo>
                    <a:pt x="1069703" y="1251645"/>
                  </a:lnTo>
                  <a:cubicBezTo>
                    <a:pt x="1069703" y="1265276"/>
                    <a:pt x="1064288" y="1278349"/>
                    <a:pt x="1054649" y="1287988"/>
                  </a:cubicBezTo>
                  <a:cubicBezTo>
                    <a:pt x="1045010" y="1297627"/>
                    <a:pt x="1031937" y="1303042"/>
                    <a:pt x="1018306" y="1303042"/>
                  </a:cubicBezTo>
                  <a:lnTo>
                    <a:pt x="51397" y="1303042"/>
                  </a:lnTo>
                  <a:cubicBezTo>
                    <a:pt x="37766" y="1303042"/>
                    <a:pt x="24693" y="1297627"/>
                    <a:pt x="15054" y="1287988"/>
                  </a:cubicBezTo>
                  <a:cubicBezTo>
                    <a:pt x="5415" y="1278349"/>
                    <a:pt x="0" y="1265276"/>
                    <a:pt x="0" y="1251645"/>
                  </a:cubicBezTo>
                  <a:lnTo>
                    <a:pt x="0" y="51397"/>
                  </a:lnTo>
                  <a:cubicBezTo>
                    <a:pt x="0" y="37766"/>
                    <a:pt x="5415" y="24693"/>
                    <a:pt x="15054" y="15054"/>
                  </a:cubicBezTo>
                  <a:cubicBezTo>
                    <a:pt x="24693" y="5415"/>
                    <a:pt x="37766" y="0"/>
                    <a:pt x="51397" y="0"/>
                  </a:cubicBezTo>
                  <a:close/>
                </a:path>
              </a:pathLst>
            </a:custGeom>
            <a:solidFill>
              <a:srgbClr val="ECE1D7"/>
            </a:solidFill>
          </p:spPr>
        </p:sp>
        <p:sp>
          <p:nvSpPr>
            <p:cNvPr name="TextBox 10" id="10"/>
            <p:cNvSpPr txBox="true"/>
            <p:nvPr/>
          </p:nvSpPr>
          <p:spPr>
            <a:xfrm>
              <a:off x="0" y="-47625"/>
              <a:ext cx="1069703" cy="1350667"/>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12259952" y="3753674"/>
            <a:ext cx="4518899" cy="5504626"/>
            <a:chOff x="0" y="0"/>
            <a:chExt cx="1069703" cy="1303042"/>
          </a:xfrm>
        </p:grpSpPr>
        <p:sp>
          <p:nvSpPr>
            <p:cNvPr name="Freeform 12" id="12"/>
            <p:cNvSpPr/>
            <p:nvPr/>
          </p:nvSpPr>
          <p:spPr>
            <a:xfrm flipH="false" flipV="false" rot="0">
              <a:off x="0" y="0"/>
              <a:ext cx="1069703" cy="1303042"/>
            </a:xfrm>
            <a:custGeom>
              <a:avLst/>
              <a:gdLst/>
              <a:ahLst/>
              <a:cxnLst/>
              <a:rect r="r" b="b" t="t" l="l"/>
              <a:pathLst>
                <a:path h="1303042" w="1069703">
                  <a:moveTo>
                    <a:pt x="51397" y="0"/>
                  </a:moveTo>
                  <a:lnTo>
                    <a:pt x="1018306" y="0"/>
                  </a:lnTo>
                  <a:cubicBezTo>
                    <a:pt x="1031937" y="0"/>
                    <a:pt x="1045010" y="5415"/>
                    <a:pt x="1054649" y="15054"/>
                  </a:cubicBezTo>
                  <a:cubicBezTo>
                    <a:pt x="1064288" y="24693"/>
                    <a:pt x="1069703" y="37766"/>
                    <a:pt x="1069703" y="51397"/>
                  </a:cubicBezTo>
                  <a:lnTo>
                    <a:pt x="1069703" y="1251645"/>
                  </a:lnTo>
                  <a:cubicBezTo>
                    <a:pt x="1069703" y="1265276"/>
                    <a:pt x="1064288" y="1278349"/>
                    <a:pt x="1054649" y="1287988"/>
                  </a:cubicBezTo>
                  <a:cubicBezTo>
                    <a:pt x="1045010" y="1297627"/>
                    <a:pt x="1031937" y="1303042"/>
                    <a:pt x="1018306" y="1303042"/>
                  </a:cubicBezTo>
                  <a:lnTo>
                    <a:pt x="51397" y="1303042"/>
                  </a:lnTo>
                  <a:cubicBezTo>
                    <a:pt x="37766" y="1303042"/>
                    <a:pt x="24693" y="1297627"/>
                    <a:pt x="15054" y="1287988"/>
                  </a:cubicBezTo>
                  <a:cubicBezTo>
                    <a:pt x="5415" y="1278349"/>
                    <a:pt x="0" y="1265276"/>
                    <a:pt x="0" y="1251645"/>
                  </a:cubicBezTo>
                  <a:lnTo>
                    <a:pt x="0" y="51397"/>
                  </a:lnTo>
                  <a:cubicBezTo>
                    <a:pt x="0" y="37766"/>
                    <a:pt x="5415" y="24693"/>
                    <a:pt x="15054" y="15054"/>
                  </a:cubicBezTo>
                  <a:cubicBezTo>
                    <a:pt x="24693" y="5415"/>
                    <a:pt x="37766" y="0"/>
                    <a:pt x="51397" y="0"/>
                  </a:cubicBezTo>
                  <a:close/>
                </a:path>
              </a:pathLst>
            </a:custGeom>
            <a:solidFill>
              <a:srgbClr val="ECE1D7"/>
            </a:solidFill>
          </p:spPr>
        </p:sp>
        <p:sp>
          <p:nvSpPr>
            <p:cNvPr name="TextBox 13" id="13"/>
            <p:cNvSpPr txBox="true"/>
            <p:nvPr/>
          </p:nvSpPr>
          <p:spPr>
            <a:xfrm>
              <a:off x="0" y="-47625"/>
              <a:ext cx="1069703" cy="1350667"/>
            </a:xfrm>
            <a:prstGeom prst="rect">
              <a:avLst/>
            </a:prstGeom>
          </p:spPr>
          <p:txBody>
            <a:bodyPr anchor="ctr" rtlCol="false" tIns="50800" lIns="50800" bIns="50800" rIns="50800"/>
            <a:lstStyle/>
            <a:p>
              <a:pPr algn="ctr">
                <a:lnSpc>
                  <a:spcPts val="3032"/>
                </a:lnSpc>
              </a:pPr>
            </a:p>
          </p:txBody>
        </p:sp>
      </p:grpSp>
      <p:grpSp>
        <p:nvGrpSpPr>
          <p:cNvPr name="Group 14" id="14"/>
          <p:cNvGrpSpPr/>
          <p:nvPr/>
        </p:nvGrpSpPr>
        <p:grpSpPr>
          <a:xfrm rot="0">
            <a:off x="1509149" y="2715155"/>
            <a:ext cx="4518899" cy="2077039"/>
            <a:chOff x="0" y="0"/>
            <a:chExt cx="1069703" cy="491672"/>
          </a:xfrm>
        </p:grpSpPr>
        <p:sp>
          <p:nvSpPr>
            <p:cNvPr name="Freeform 15" id="15"/>
            <p:cNvSpPr/>
            <p:nvPr/>
          </p:nvSpPr>
          <p:spPr>
            <a:xfrm flipH="false" flipV="false" rot="0">
              <a:off x="0" y="0"/>
              <a:ext cx="1069703" cy="491672"/>
            </a:xfrm>
            <a:custGeom>
              <a:avLst/>
              <a:gdLst/>
              <a:ahLst/>
              <a:cxnLst/>
              <a:rect r="r" b="b" t="t" l="l"/>
              <a:pathLst>
                <a:path h="491672" w="1069703">
                  <a:moveTo>
                    <a:pt x="51397" y="0"/>
                  </a:moveTo>
                  <a:lnTo>
                    <a:pt x="1018306" y="0"/>
                  </a:lnTo>
                  <a:cubicBezTo>
                    <a:pt x="1031937" y="0"/>
                    <a:pt x="1045010" y="5415"/>
                    <a:pt x="1054649" y="15054"/>
                  </a:cubicBezTo>
                  <a:cubicBezTo>
                    <a:pt x="1064288" y="24693"/>
                    <a:pt x="1069703" y="37766"/>
                    <a:pt x="1069703" y="51397"/>
                  </a:cubicBezTo>
                  <a:lnTo>
                    <a:pt x="1069703" y="440275"/>
                  </a:lnTo>
                  <a:cubicBezTo>
                    <a:pt x="1069703" y="468660"/>
                    <a:pt x="1046692" y="491672"/>
                    <a:pt x="1018306" y="491672"/>
                  </a:cubicBezTo>
                  <a:lnTo>
                    <a:pt x="51397" y="491672"/>
                  </a:lnTo>
                  <a:cubicBezTo>
                    <a:pt x="37766" y="491672"/>
                    <a:pt x="24693" y="486257"/>
                    <a:pt x="15054" y="476618"/>
                  </a:cubicBezTo>
                  <a:cubicBezTo>
                    <a:pt x="5415" y="466979"/>
                    <a:pt x="0" y="453906"/>
                    <a:pt x="0" y="440275"/>
                  </a:cubicBezTo>
                  <a:lnTo>
                    <a:pt x="0" y="51397"/>
                  </a:lnTo>
                  <a:cubicBezTo>
                    <a:pt x="0" y="37766"/>
                    <a:pt x="5415" y="24693"/>
                    <a:pt x="15054" y="15054"/>
                  </a:cubicBezTo>
                  <a:cubicBezTo>
                    <a:pt x="24693" y="5415"/>
                    <a:pt x="37766" y="0"/>
                    <a:pt x="51397" y="0"/>
                  </a:cubicBezTo>
                  <a:close/>
                </a:path>
              </a:pathLst>
            </a:custGeom>
            <a:solidFill>
              <a:srgbClr val="5B7ABE"/>
            </a:solidFill>
          </p:spPr>
        </p:sp>
        <p:sp>
          <p:nvSpPr>
            <p:cNvPr name="TextBox 16" id="16"/>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grpSp>
        <p:nvGrpSpPr>
          <p:cNvPr name="Group 17" id="17"/>
          <p:cNvGrpSpPr/>
          <p:nvPr/>
        </p:nvGrpSpPr>
        <p:grpSpPr>
          <a:xfrm rot="0">
            <a:off x="6882646" y="2715155"/>
            <a:ext cx="4518899" cy="2077039"/>
            <a:chOff x="0" y="0"/>
            <a:chExt cx="1069703" cy="491672"/>
          </a:xfrm>
        </p:grpSpPr>
        <p:sp>
          <p:nvSpPr>
            <p:cNvPr name="Freeform 18" id="18"/>
            <p:cNvSpPr/>
            <p:nvPr/>
          </p:nvSpPr>
          <p:spPr>
            <a:xfrm flipH="false" flipV="false" rot="0">
              <a:off x="0" y="0"/>
              <a:ext cx="1069703" cy="491672"/>
            </a:xfrm>
            <a:custGeom>
              <a:avLst/>
              <a:gdLst/>
              <a:ahLst/>
              <a:cxnLst/>
              <a:rect r="r" b="b" t="t" l="l"/>
              <a:pathLst>
                <a:path h="491672" w="1069703">
                  <a:moveTo>
                    <a:pt x="51397" y="0"/>
                  </a:moveTo>
                  <a:lnTo>
                    <a:pt x="1018306" y="0"/>
                  </a:lnTo>
                  <a:cubicBezTo>
                    <a:pt x="1031937" y="0"/>
                    <a:pt x="1045010" y="5415"/>
                    <a:pt x="1054649" y="15054"/>
                  </a:cubicBezTo>
                  <a:cubicBezTo>
                    <a:pt x="1064288" y="24693"/>
                    <a:pt x="1069703" y="37766"/>
                    <a:pt x="1069703" y="51397"/>
                  </a:cubicBezTo>
                  <a:lnTo>
                    <a:pt x="1069703" y="440275"/>
                  </a:lnTo>
                  <a:cubicBezTo>
                    <a:pt x="1069703" y="468660"/>
                    <a:pt x="1046692" y="491672"/>
                    <a:pt x="1018306" y="491672"/>
                  </a:cubicBezTo>
                  <a:lnTo>
                    <a:pt x="51397" y="491672"/>
                  </a:lnTo>
                  <a:cubicBezTo>
                    <a:pt x="37766" y="491672"/>
                    <a:pt x="24693" y="486257"/>
                    <a:pt x="15054" y="476618"/>
                  </a:cubicBezTo>
                  <a:cubicBezTo>
                    <a:pt x="5415" y="466979"/>
                    <a:pt x="0" y="453906"/>
                    <a:pt x="0" y="440275"/>
                  </a:cubicBezTo>
                  <a:lnTo>
                    <a:pt x="0" y="51397"/>
                  </a:lnTo>
                  <a:cubicBezTo>
                    <a:pt x="0" y="37766"/>
                    <a:pt x="5415" y="24693"/>
                    <a:pt x="15054" y="15054"/>
                  </a:cubicBezTo>
                  <a:cubicBezTo>
                    <a:pt x="24693" y="5415"/>
                    <a:pt x="37766" y="0"/>
                    <a:pt x="51397" y="0"/>
                  </a:cubicBezTo>
                  <a:close/>
                </a:path>
              </a:pathLst>
            </a:custGeom>
            <a:solidFill>
              <a:srgbClr val="5B7ABE"/>
            </a:solidFill>
          </p:spPr>
        </p:sp>
        <p:sp>
          <p:nvSpPr>
            <p:cNvPr name="TextBox 19" id="19"/>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grpSp>
        <p:nvGrpSpPr>
          <p:cNvPr name="Group 20" id="20"/>
          <p:cNvGrpSpPr/>
          <p:nvPr/>
        </p:nvGrpSpPr>
        <p:grpSpPr>
          <a:xfrm rot="0">
            <a:off x="12259952" y="2715155"/>
            <a:ext cx="4518899" cy="2077039"/>
            <a:chOff x="0" y="0"/>
            <a:chExt cx="1069703" cy="491672"/>
          </a:xfrm>
        </p:grpSpPr>
        <p:sp>
          <p:nvSpPr>
            <p:cNvPr name="Freeform 21" id="21"/>
            <p:cNvSpPr/>
            <p:nvPr/>
          </p:nvSpPr>
          <p:spPr>
            <a:xfrm flipH="false" flipV="false" rot="0">
              <a:off x="0" y="0"/>
              <a:ext cx="1069703" cy="491672"/>
            </a:xfrm>
            <a:custGeom>
              <a:avLst/>
              <a:gdLst/>
              <a:ahLst/>
              <a:cxnLst/>
              <a:rect r="r" b="b" t="t" l="l"/>
              <a:pathLst>
                <a:path h="491672" w="1069703">
                  <a:moveTo>
                    <a:pt x="51397" y="0"/>
                  </a:moveTo>
                  <a:lnTo>
                    <a:pt x="1018306" y="0"/>
                  </a:lnTo>
                  <a:cubicBezTo>
                    <a:pt x="1031937" y="0"/>
                    <a:pt x="1045010" y="5415"/>
                    <a:pt x="1054649" y="15054"/>
                  </a:cubicBezTo>
                  <a:cubicBezTo>
                    <a:pt x="1064288" y="24693"/>
                    <a:pt x="1069703" y="37766"/>
                    <a:pt x="1069703" y="51397"/>
                  </a:cubicBezTo>
                  <a:lnTo>
                    <a:pt x="1069703" y="440275"/>
                  </a:lnTo>
                  <a:cubicBezTo>
                    <a:pt x="1069703" y="468660"/>
                    <a:pt x="1046692" y="491672"/>
                    <a:pt x="1018306" y="491672"/>
                  </a:cubicBezTo>
                  <a:lnTo>
                    <a:pt x="51397" y="491672"/>
                  </a:lnTo>
                  <a:cubicBezTo>
                    <a:pt x="37766" y="491672"/>
                    <a:pt x="24693" y="486257"/>
                    <a:pt x="15054" y="476618"/>
                  </a:cubicBezTo>
                  <a:cubicBezTo>
                    <a:pt x="5415" y="466979"/>
                    <a:pt x="0" y="453906"/>
                    <a:pt x="0" y="440275"/>
                  </a:cubicBezTo>
                  <a:lnTo>
                    <a:pt x="0" y="51397"/>
                  </a:lnTo>
                  <a:cubicBezTo>
                    <a:pt x="0" y="37766"/>
                    <a:pt x="5415" y="24693"/>
                    <a:pt x="15054" y="15054"/>
                  </a:cubicBezTo>
                  <a:cubicBezTo>
                    <a:pt x="24693" y="5415"/>
                    <a:pt x="37766" y="0"/>
                    <a:pt x="51397" y="0"/>
                  </a:cubicBezTo>
                  <a:close/>
                </a:path>
              </a:pathLst>
            </a:custGeom>
            <a:solidFill>
              <a:srgbClr val="5B7ABE"/>
            </a:solidFill>
          </p:spPr>
        </p:sp>
        <p:sp>
          <p:nvSpPr>
            <p:cNvPr name="TextBox 22" id="22"/>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sp>
        <p:nvSpPr>
          <p:cNvPr name="Freeform 23" id="23"/>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grpSp>
        <p:nvGrpSpPr>
          <p:cNvPr name="Group 25" id="25"/>
          <p:cNvGrpSpPr/>
          <p:nvPr/>
        </p:nvGrpSpPr>
        <p:grpSpPr>
          <a:xfrm rot="0">
            <a:off x="2275990" y="2892088"/>
            <a:ext cx="2985216" cy="858407"/>
            <a:chOff x="0" y="0"/>
            <a:chExt cx="706653" cy="203200"/>
          </a:xfrm>
        </p:grpSpPr>
        <p:sp>
          <p:nvSpPr>
            <p:cNvPr name="Freeform 26" id="26"/>
            <p:cNvSpPr/>
            <p:nvPr/>
          </p:nvSpPr>
          <p:spPr>
            <a:xfrm flipH="false" flipV="false" rot="0">
              <a:off x="0" y="0"/>
              <a:ext cx="706653" cy="203200"/>
            </a:xfrm>
            <a:custGeom>
              <a:avLst/>
              <a:gdLst/>
              <a:ahLst/>
              <a:cxnLst/>
              <a:rect r="r" b="b" t="t" l="l"/>
              <a:pathLst>
                <a:path h="203200" w="706653">
                  <a:moveTo>
                    <a:pt x="503453" y="0"/>
                  </a:moveTo>
                  <a:cubicBezTo>
                    <a:pt x="615677" y="0"/>
                    <a:pt x="706653" y="45488"/>
                    <a:pt x="706653" y="101600"/>
                  </a:cubicBezTo>
                  <a:cubicBezTo>
                    <a:pt x="706653" y="157712"/>
                    <a:pt x="615677" y="203200"/>
                    <a:pt x="503453" y="203200"/>
                  </a:cubicBezTo>
                  <a:lnTo>
                    <a:pt x="203200" y="203200"/>
                  </a:lnTo>
                  <a:cubicBezTo>
                    <a:pt x="90976" y="203200"/>
                    <a:pt x="0" y="157712"/>
                    <a:pt x="0" y="101600"/>
                  </a:cubicBezTo>
                  <a:cubicBezTo>
                    <a:pt x="0" y="45488"/>
                    <a:pt x="90976" y="0"/>
                    <a:pt x="203200" y="0"/>
                  </a:cubicBezTo>
                  <a:close/>
                </a:path>
              </a:pathLst>
            </a:custGeom>
            <a:solidFill>
              <a:srgbClr val="FFFFFF"/>
            </a:solidFill>
          </p:spPr>
        </p:sp>
        <p:sp>
          <p:nvSpPr>
            <p:cNvPr name="TextBox 27" id="27"/>
            <p:cNvSpPr txBox="true"/>
            <p:nvPr/>
          </p:nvSpPr>
          <p:spPr>
            <a:xfrm>
              <a:off x="0" y="-47625"/>
              <a:ext cx="706653" cy="250825"/>
            </a:xfrm>
            <a:prstGeom prst="rect">
              <a:avLst/>
            </a:prstGeom>
          </p:spPr>
          <p:txBody>
            <a:bodyPr anchor="ctr" rtlCol="false" tIns="50800" lIns="50800" bIns="50800" rIns="50800"/>
            <a:lstStyle/>
            <a:p>
              <a:pPr algn="ctr">
                <a:lnSpc>
                  <a:spcPts val="3032"/>
                </a:lnSpc>
              </a:pPr>
            </a:p>
          </p:txBody>
        </p:sp>
      </p:grpSp>
      <p:sp>
        <p:nvSpPr>
          <p:cNvPr name="TextBox 28" id="28"/>
          <p:cNvSpPr txBox="true"/>
          <p:nvPr/>
        </p:nvSpPr>
        <p:spPr>
          <a:xfrm rot="0">
            <a:off x="12652064" y="3142114"/>
            <a:ext cx="3782843" cy="501230"/>
          </a:xfrm>
          <a:prstGeom prst="rect">
            <a:avLst/>
          </a:prstGeom>
        </p:spPr>
        <p:txBody>
          <a:bodyPr anchor="t" rtlCol="false" tIns="0" lIns="0" bIns="0" rIns="0">
            <a:spAutoFit/>
          </a:bodyPr>
          <a:lstStyle/>
          <a:p>
            <a:pPr algn="ctr" marL="0" indent="0" lvl="0">
              <a:lnSpc>
                <a:spcPts val="3609"/>
              </a:lnSpc>
            </a:pPr>
            <a:r>
              <a:rPr lang="en-US" b="true" sz="4246">
                <a:solidFill>
                  <a:srgbClr val="000000"/>
                </a:solidFill>
                <a:latin typeface="Helvetica Now Display Bold"/>
                <a:ea typeface="Helvetica Now Display Bold"/>
                <a:cs typeface="Helvetica Now Display Bold"/>
                <a:sym typeface="Helvetica Now Display Bold"/>
              </a:rPr>
              <a:t>     Subscribe     </a:t>
            </a:r>
          </a:p>
        </p:txBody>
      </p:sp>
      <p:grpSp>
        <p:nvGrpSpPr>
          <p:cNvPr name="Group 29" id="29"/>
          <p:cNvGrpSpPr/>
          <p:nvPr/>
        </p:nvGrpSpPr>
        <p:grpSpPr>
          <a:xfrm rot="0">
            <a:off x="7673263" y="2892088"/>
            <a:ext cx="2985216" cy="858407"/>
            <a:chOff x="0" y="0"/>
            <a:chExt cx="706653" cy="203200"/>
          </a:xfrm>
        </p:grpSpPr>
        <p:sp>
          <p:nvSpPr>
            <p:cNvPr name="Freeform 30" id="30"/>
            <p:cNvSpPr/>
            <p:nvPr/>
          </p:nvSpPr>
          <p:spPr>
            <a:xfrm flipH="false" flipV="false" rot="0">
              <a:off x="0" y="0"/>
              <a:ext cx="706653" cy="203200"/>
            </a:xfrm>
            <a:custGeom>
              <a:avLst/>
              <a:gdLst/>
              <a:ahLst/>
              <a:cxnLst/>
              <a:rect r="r" b="b" t="t" l="l"/>
              <a:pathLst>
                <a:path h="203200" w="706653">
                  <a:moveTo>
                    <a:pt x="503453" y="0"/>
                  </a:moveTo>
                  <a:cubicBezTo>
                    <a:pt x="615677" y="0"/>
                    <a:pt x="706653" y="45488"/>
                    <a:pt x="706653" y="101600"/>
                  </a:cubicBezTo>
                  <a:cubicBezTo>
                    <a:pt x="706653" y="157712"/>
                    <a:pt x="615677" y="203200"/>
                    <a:pt x="503453" y="203200"/>
                  </a:cubicBezTo>
                  <a:lnTo>
                    <a:pt x="203200" y="203200"/>
                  </a:lnTo>
                  <a:cubicBezTo>
                    <a:pt x="90976" y="203200"/>
                    <a:pt x="0" y="157712"/>
                    <a:pt x="0" y="101600"/>
                  </a:cubicBezTo>
                  <a:cubicBezTo>
                    <a:pt x="0" y="45488"/>
                    <a:pt x="90976" y="0"/>
                    <a:pt x="203200" y="0"/>
                  </a:cubicBezTo>
                  <a:close/>
                </a:path>
              </a:pathLst>
            </a:custGeom>
            <a:solidFill>
              <a:srgbClr val="FFFFFF"/>
            </a:solidFill>
          </p:spPr>
        </p:sp>
        <p:sp>
          <p:nvSpPr>
            <p:cNvPr name="TextBox 31" id="31"/>
            <p:cNvSpPr txBox="true"/>
            <p:nvPr/>
          </p:nvSpPr>
          <p:spPr>
            <a:xfrm>
              <a:off x="0" y="-47625"/>
              <a:ext cx="706653" cy="250825"/>
            </a:xfrm>
            <a:prstGeom prst="rect">
              <a:avLst/>
            </a:prstGeom>
          </p:spPr>
          <p:txBody>
            <a:bodyPr anchor="ctr" rtlCol="false" tIns="50800" lIns="50800" bIns="50800" rIns="50800"/>
            <a:lstStyle/>
            <a:p>
              <a:pPr algn="ctr">
                <a:lnSpc>
                  <a:spcPts val="3032"/>
                </a:lnSpc>
              </a:pPr>
            </a:p>
          </p:txBody>
        </p:sp>
      </p:grpSp>
      <p:grpSp>
        <p:nvGrpSpPr>
          <p:cNvPr name="Group 32" id="32"/>
          <p:cNvGrpSpPr/>
          <p:nvPr/>
        </p:nvGrpSpPr>
        <p:grpSpPr>
          <a:xfrm rot="0">
            <a:off x="13070536" y="2892088"/>
            <a:ext cx="2985216" cy="858407"/>
            <a:chOff x="0" y="0"/>
            <a:chExt cx="706653" cy="203200"/>
          </a:xfrm>
        </p:grpSpPr>
        <p:sp>
          <p:nvSpPr>
            <p:cNvPr name="Freeform 33" id="33"/>
            <p:cNvSpPr/>
            <p:nvPr/>
          </p:nvSpPr>
          <p:spPr>
            <a:xfrm flipH="false" flipV="false" rot="0">
              <a:off x="0" y="0"/>
              <a:ext cx="706653" cy="203200"/>
            </a:xfrm>
            <a:custGeom>
              <a:avLst/>
              <a:gdLst/>
              <a:ahLst/>
              <a:cxnLst/>
              <a:rect r="r" b="b" t="t" l="l"/>
              <a:pathLst>
                <a:path h="203200" w="706653">
                  <a:moveTo>
                    <a:pt x="503453" y="0"/>
                  </a:moveTo>
                  <a:cubicBezTo>
                    <a:pt x="615677" y="0"/>
                    <a:pt x="706653" y="45488"/>
                    <a:pt x="706653" y="101600"/>
                  </a:cubicBezTo>
                  <a:cubicBezTo>
                    <a:pt x="706653" y="157712"/>
                    <a:pt x="615677" y="203200"/>
                    <a:pt x="503453" y="203200"/>
                  </a:cubicBezTo>
                  <a:lnTo>
                    <a:pt x="203200" y="203200"/>
                  </a:lnTo>
                  <a:cubicBezTo>
                    <a:pt x="90976" y="203200"/>
                    <a:pt x="0" y="157712"/>
                    <a:pt x="0" y="101600"/>
                  </a:cubicBezTo>
                  <a:cubicBezTo>
                    <a:pt x="0" y="45488"/>
                    <a:pt x="90976" y="0"/>
                    <a:pt x="203200" y="0"/>
                  </a:cubicBezTo>
                  <a:close/>
                </a:path>
              </a:pathLst>
            </a:custGeom>
            <a:solidFill>
              <a:srgbClr val="FFFFFF"/>
            </a:solidFill>
          </p:spPr>
        </p:sp>
        <p:sp>
          <p:nvSpPr>
            <p:cNvPr name="TextBox 34" id="34"/>
            <p:cNvSpPr txBox="true"/>
            <p:nvPr/>
          </p:nvSpPr>
          <p:spPr>
            <a:xfrm>
              <a:off x="0" y="-47625"/>
              <a:ext cx="706653" cy="250825"/>
            </a:xfrm>
            <a:prstGeom prst="rect">
              <a:avLst/>
            </a:prstGeom>
          </p:spPr>
          <p:txBody>
            <a:bodyPr anchor="ctr" rtlCol="false" tIns="50800" lIns="50800" bIns="50800" rIns="50800"/>
            <a:lstStyle/>
            <a:p>
              <a:pPr algn="ctr">
                <a:lnSpc>
                  <a:spcPts val="3032"/>
                </a:lnSpc>
              </a:pPr>
            </a:p>
          </p:txBody>
        </p:sp>
      </p:grpSp>
      <p:grpSp>
        <p:nvGrpSpPr>
          <p:cNvPr name="Group 35" id="35"/>
          <p:cNvGrpSpPr/>
          <p:nvPr/>
        </p:nvGrpSpPr>
        <p:grpSpPr>
          <a:xfrm rot="0">
            <a:off x="2417489" y="4792194"/>
            <a:ext cx="2702219" cy="531749"/>
            <a:chOff x="0" y="0"/>
            <a:chExt cx="1613457" cy="317500"/>
          </a:xfrm>
        </p:grpSpPr>
        <p:sp>
          <p:nvSpPr>
            <p:cNvPr name="Freeform 36" id="36"/>
            <p:cNvSpPr/>
            <p:nvPr/>
          </p:nvSpPr>
          <p:spPr>
            <a:xfrm flipH="false" flipV="false" rot="0">
              <a:off x="0" y="0"/>
              <a:ext cx="1613457" cy="317500"/>
            </a:xfrm>
            <a:custGeom>
              <a:avLst/>
              <a:gdLst/>
              <a:ahLst/>
              <a:cxnLst/>
              <a:rect r="r" b="b" t="t" l="l"/>
              <a:pathLst>
                <a:path h="317500" w="1613457">
                  <a:moveTo>
                    <a:pt x="538110" y="298431"/>
                  </a:moveTo>
                  <a:cubicBezTo>
                    <a:pt x="620827" y="309945"/>
                    <a:pt x="714867" y="317500"/>
                    <a:pt x="807163" y="317500"/>
                  </a:cubicBezTo>
                  <a:cubicBezTo>
                    <a:pt x="899462" y="317500"/>
                    <a:pt x="988277" y="311023"/>
                    <a:pt x="1070122" y="299509"/>
                  </a:cubicBezTo>
                  <a:cubicBezTo>
                    <a:pt x="1071866" y="299150"/>
                    <a:pt x="1073607" y="299150"/>
                    <a:pt x="1075348" y="298790"/>
                  </a:cubicBezTo>
                  <a:cubicBezTo>
                    <a:pt x="1382714" y="252735"/>
                    <a:pt x="1609104" y="131121"/>
                    <a:pt x="1613457" y="0"/>
                  </a:cubicBezTo>
                  <a:lnTo>
                    <a:pt x="1613457" y="0"/>
                  </a:lnTo>
                  <a:lnTo>
                    <a:pt x="0" y="0"/>
                  </a:lnTo>
                  <a:lnTo>
                    <a:pt x="0" y="0"/>
                  </a:lnTo>
                  <a:cubicBezTo>
                    <a:pt x="4354" y="131840"/>
                    <a:pt x="227260" y="253455"/>
                    <a:pt x="538110" y="298431"/>
                  </a:cubicBezTo>
                  <a:close/>
                </a:path>
              </a:pathLst>
            </a:custGeom>
            <a:solidFill>
              <a:srgbClr val="FFBD59"/>
            </a:solidFill>
          </p:spPr>
        </p:sp>
        <p:sp>
          <p:nvSpPr>
            <p:cNvPr name="TextBox 37" id="37"/>
            <p:cNvSpPr txBox="true"/>
            <p:nvPr/>
          </p:nvSpPr>
          <p:spPr>
            <a:xfrm>
              <a:off x="0" y="-47625"/>
              <a:ext cx="1613457" cy="238125"/>
            </a:xfrm>
            <a:prstGeom prst="rect">
              <a:avLst/>
            </a:prstGeom>
          </p:spPr>
          <p:txBody>
            <a:bodyPr anchor="ctr" rtlCol="false" tIns="50800" lIns="50800" bIns="50800" rIns="50800"/>
            <a:lstStyle/>
            <a:p>
              <a:pPr algn="ctr">
                <a:lnSpc>
                  <a:spcPts val="3032"/>
                </a:lnSpc>
              </a:pPr>
            </a:p>
          </p:txBody>
        </p:sp>
      </p:grpSp>
      <p:sp>
        <p:nvSpPr>
          <p:cNvPr name="TextBox 38" id="38"/>
          <p:cNvSpPr txBox="true"/>
          <p:nvPr/>
        </p:nvSpPr>
        <p:spPr>
          <a:xfrm rot="0">
            <a:off x="1733698" y="3982238"/>
            <a:ext cx="4069800" cy="669149"/>
          </a:xfrm>
          <a:prstGeom prst="rect">
            <a:avLst/>
          </a:prstGeom>
        </p:spPr>
        <p:txBody>
          <a:bodyPr anchor="t" rtlCol="false" tIns="0" lIns="0" bIns="0" rIns="0">
            <a:spAutoFit/>
          </a:bodyPr>
          <a:lstStyle/>
          <a:p>
            <a:pPr algn="ctr">
              <a:lnSpc>
                <a:spcPts val="2644"/>
              </a:lnSpc>
            </a:pPr>
            <a:r>
              <a:rPr lang="en-US" b="true" sz="2494">
                <a:solidFill>
                  <a:srgbClr val="000000"/>
                </a:solidFill>
                <a:latin typeface="DM Sans Bold"/>
                <a:ea typeface="DM Sans Bold"/>
                <a:cs typeface="DM Sans Bold"/>
                <a:sym typeface="DM Sans Bold"/>
              </a:rPr>
              <a:t>Fixed / heavily controlled exchange rate period</a:t>
            </a:r>
          </a:p>
        </p:txBody>
      </p:sp>
      <p:sp>
        <p:nvSpPr>
          <p:cNvPr name="TextBox 39" id="39"/>
          <p:cNvSpPr txBox="true"/>
          <p:nvPr/>
        </p:nvSpPr>
        <p:spPr>
          <a:xfrm rot="0">
            <a:off x="1511800" y="5441473"/>
            <a:ext cx="4516247" cy="2333724"/>
          </a:xfrm>
          <a:prstGeom prst="rect">
            <a:avLst/>
          </a:prstGeom>
        </p:spPr>
        <p:txBody>
          <a:bodyPr anchor="t" rtlCol="false" tIns="0" lIns="0" bIns="0" rIns="0">
            <a:spAutoFit/>
          </a:bodyPr>
          <a:lstStyle/>
          <a:p>
            <a:pPr algn="l" marL="484933" indent="-242466" lvl="1">
              <a:lnSpc>
                <a:spcPts val="3144"/>
              </a:lnSpc>
              <a:buFont typeface="Arial"/>
              <a:buChar char="•"/>
            </a:pPr>
            <a:r>
              <a:rPr lang="en-US" sz="2246">
                <a:solidFill>
                  <a:srgbClr val="2D2261"/>
                </a:solidFill>
                <a:latin typeface="Red Hat Display"/>
                <a:ea typeface="Red Hat Display"/>
                <a:cs typeface="Red Hat Display"/>
                <a:sym typeface="Red Hat Display"/>
              </a:rPr>
              <a:t>Capital flows were restricted.</a:t>
            </a:r>
          </a:p>
          <a:p>
            <a:pPr algn="l" marL="484933" indent="-242466" lvl="1">
              <a:lnSpc>
                <a:spcPts val="3144"/>
              </a:lnSpc>
              <a:buFont typeface="Arial"/>
              <a:buChar char="•"/>
            </a:pPr>
            <a:r>
              <a:rPr lang="en-US" sz="2246">
                <a:solidFill>
                  <a:srgbClr val="2D2261"/>
                </a:solidFill>
                <a:latin typeface="Red Hat Display"/>
                <a:ea typeface="Red Hat Display"/>
                <a:cs typeface="Red Hat Display"/>
                <a:sym typeface="Red Hat Display"/>
              </a:rPr>
              <a:t>Foreign trade controls were strong.</a:t>
            </a:r>
          </a:p>
          <a:p>
            <a:pPr algn="l" marL="484933" indent="-242466" lvl="1">
              <a:lnSpc>
                <a:spcPts val="3144"/>
              </a:lnSpc>
              <a:buFont typeface="Arial"/>
              <a:buChar char="•"/>
            </a:pPr>
            <a:r>
              <a:rPr lang="en-US" sz="2246">
                <a:solidFill>
                  <a:srgbClr val="2D2261"/>
                </a:solidFill>
                <a:latin typeface="Red Hat Display"/>
                <a:ea typeface="Red Hat Display"/>
                <a:cs typeface="Red Hat Display"/>
                <a:sym typeface="Red Hat Display"/>
              </a:rPr>
              <a:t>Exchange rate movement was small because RBI managed it di</a:t>
            </a:r>
            <a:r>
              <a:rPr lang="en-US" sz="2246">
                <a:solidFill>
                  <a:srgbClr val="2D2261"/>
                </a:solidFill>
                <a:latin typeface="Red Hat Display"/>
                <a:ea typeface="Red Hat Display"/>
                <a:cs typeface="Red Hat Display"/>
                <a:sym typeface="Red Hat Display"/>
              </a:rPr>
              <a:t>rectly.</a:t>
            </a:r>
          </a:p>
        </p:txBody>
      </p:sp>
      <p:sp>
        <p:nvSpPr>
          <p:cNvPr name="TextBox 40" id="40"/>
          <p:cNvSpPr txBox="true"/>
          <p:nvPr/>
        </p:nvSpPr>
        <p:spPr>
          <a:xfrm rot="0">
            <a:off x="1877177" y="3142114"/>
            <a:ext cx="3782843" cy="501230"/>
          </a:xfrm>
          <a:prstGeom prst="rect">
            <a:avLst/>
          </a:prstGeom>
        </p:spPr>
        <p:txBody>
          <a:bodyPr anchor="t" rtlCol="false" tIns="0" lIns="0" bIns="0" rIns="0">
            <a:spAutoFit/>
          </a:bodyPr>
          <a:lstStyle/>
          <a:p>
            <a:pPr algn="ctr" marL="0" indent="0" lvl="0">
              <a:lnSpc>
                <a:spcPts val="3609"/>
              </a:lnSpc>
            </a:pPr>
            <a:r>
              <a:rPr lang="en-US" b="true" sz="4246">
                <a:solidFill>
                  <a:srgbClr val="000000"/>
                </a:solidFill>
                <a:latin typeface="Helvetica Now Display Bold"/>
                <a:ea typeface="Helvetica Now Display Bold"/>
                <a:cs typeface="Helvetica Now Display Bold"/>
                <a:sym typeface="Helvetica Now Display Bold"/>
              </a:rPr>
              <a:t>Phase 1</a:t>
            </a:r>
          </a:p>
        </p:txBody>
      </p:sp>
      <p:sp>
        <p:nvSpPr>
          <p:cNvPr name="TextBox 41" id="41"/>
          <p:cNvSpPr txBox="true"/>
          <p:nvPr/>
        </p:nvSpPr>
        <p:spPr>
          <a:xfrm rot="0">
            <a:off x="7274450" y="3142114"/>
            <a:ext cx="3782843" cy="501230"/>
          </a:xfrm>
          <a:prstGeom prst="rect">
            <a:avLst/>
          </a:prstGeom>
        </p:spPr>
        <p:txBody>
          <a:bodyPr anchor="t" rtlCol="false" tIns="0" lIns="0" bIns="0" rIns="0">
            <a:spAutoFit/>
          </a:bodyPr>
          <a:lstStyle/>
          <a:p>
            <a:pPr algn="ctr" marL="0" indent="0" lvl="0">
              <a:lnSpc>
                <a:spcPts val="3609"/>
              </a:lnSpc>
            </a:pPr>
            <a:r>
              <a:rPr lang="en-US" b="true" sz="4246">
                <a:solidFill>
                  <a:srgbClr val="000000"/>
                </a:solidFill>
                <a:latin typeface="Helvetica Now Display Bold"/>
                <a:ea typeface="Helvetica Now Display Bold"/>
                <a:cs typeface="Helvetica Now Display Bold"/>
                <a:sym typeface="Helvetica Now Display Bold"/>
              </a:rPr>
              <a:t>Phase 2</a:t>
            </a:r>
          </a:p>
        </p:txBody>
      </p:sp>
      <p:sp>
        <p:nvSpPr>
          <p:cNvPr name="TextBox 42" id="42"/>
          <p:cNvSpPr txBox="true"/>
          <p:nvPr/>
        </p:nvSpPr>
        <p:spPr>
          <a:xfrm rot="0">
            <a:off x="12671723" y="3142114"/>
            <a:ext cx="3782843" cy="501230"/>
          </a:xfrm>
          <a:prstGeom prst="rect">
            <a:avLst/>
          </a:prstGeom>
        </p:spPr>
        <p:txBody>
          <a:bodyPr anchor="t" rtlCol="false" tIns="0" lIns="0" bIns="0" rIns="0">
            <a:spAutoFit/>
          </a:bodyPr>
          <a:lstStyle/>
          <a:p>
            <a:pPr algn="ctr" marL="0" indent="0" lvl="0">
              <a:lnSpc>
                <a:spcPts val="3609"/>
              </a:lnSpc>
            </a:pPr>
            <a:r>
              <a:rPr lang="en-US" b="true" sz="4246">
                <a:solidFill>
                  <a:srgbClr val="000000"/>
                </a:solidFill>
                <a:latin typeface="Helvetica Now Display Bold"/>
                <a:ea typeface="Helvetica Now Display Bold"/>
                <a:cs typeface="Helvetica Now Display Bold"/>
                <a:sym typeface="Helvetica Now Display Bold"/>
              </a:rPr>
              <a:t>Phase 3</a:t>
            </a:r>
          </a:p>
        </p:txBody>
      </p:sp>
      <p:grpSp>
        <p:nvGrpSpPr>
          <p:cNvPr name="Group 43" id="43"/>
          <p:cNvGrpSpPr/>
          <p:nvPr/>
        </p:nvGrpSpPr>
        <p:grpSpPr>
          <a:xfrm rot="0">
            <a:off x="7792890" y="4792194"/>
            <a:ext cx="2702219" cy="531749"/>
            <a:chOff x="0" y="0"/>
            <a:chExt cx="1613457" cy="317500"/>
          </a:xfrm>
        </p:grpSpPr>
        <p:sp>
          <p:nvSpPr>
            <p:cNvPr name="Freeform 44" id="44"/>
            <p:cNvSpPr/>
            <p:nvPr/>
          </p:nvSpPr>
          <p:spPr>
            <a:xfrm flipH="false" flipV="false" rot="0">
              <a:off x="0" y="0"/>
              <a:ext cx="1613457" cy="317500"/>
            </a:xfrm>
            <a:custGeom>
              <a:avLst/>
              <a:gdLst/>
              <a:ahLst/>
              <a:cxnLst/>
              <a:rect r="r" b="b" t="t" l="l"/>
              <a:pathLst>
                <a:path h="317500" w="1613457">
                  <a:moveTo>
                    <a:pt x="538110" y="298431"/>
                  </a:moveTo>
                  <a:cubicBezTo>
                    <a:pt x="620827" y="309945"/>
                    <a:pt x="714867" y="317500"/>
                    <a:pt x="807163" y="317500"/>
                  </a:cubicBezTo>
                  <a:cubicBezTo>
                    <a:pt x="899462" y="317500"/>
                    <a:pt x="988277" y="311023"/>
                    <a:pt x="1070122" y="299509"/>
                  </a:cubicBezTo>
                  <a:cubicBezTo>
                    <a:pt x="1071866" y="299150"/>
                    <a:pt x="1073607" y="299150"/>
                    <a:pt x="1075348" y="298790"/>
                  </a:cubicBezTo>
                  <a:cubicBezTo>
                    <a:pt x="1382714" y="252735"/>
                    <a:pt x="1609104" y="131121"/>
                    <a:pt x="1613457" y="0"/>
                  </a:cubicBezTo>
                  <a:lnTo>
                    <a:pt x="1613457" y="0"/>
                  </a:lnTo>
                  <a:lnTo>
                    <a:pt x="0" y="0"/>
                  </a:lnTo>
                  <a:lnTo>
                    <a:pt x="0" y="0"/>
                  </a:lnTo>
                  <a:cubicBezTo>
                    <a:pt x="4354" y="131840"/>
                    <a:pt x="227260" y="253455"/>
                    <a:pt x="538110" y="298431"/>
                  </a:cubicBezTo>
                  <a:close/>
                </a:path>
              </a:pathLst>
            </a:custGeom>
            <a:solidFill>
              <a:srgbClr val="FFBD59"/>
            </a:solidFill>
          </p:spPr>
        </p:sp>
        <p:sp>
          <p:nvSpPr>
            <p:cNvPr name="TextBox 45" id="45"/>
            <p:cNvSpPr txBox="true"/>
            <p:nvPr/>
          </p:nvSpPr>
          <p:spPr>
            <a:xfrm>
              <a:off x="0" y="-47625"/>
              <a:ext cx="1613457" cy="238125"/>
            </a:xfrm>
            <a:prstGeom prst="rect">
              <a:avLst/>
            </a:prstGeom>
          </p:spPr>
          <p:txBody>
            <a:bodyPr anchor="ctr" rtlCol="false" tIns="50800" lIns="50800" bIns="50800" rIns="50800"/>
            <a:lstStyle/>
            <a:p>
              <a:pPr algn="ctr">
                <a:lnSpc>
                  <a:spcPts val="3032"/>
                </a:lnSpc>
              </a:pPr>
            </a:p>
          </p:txBody>
        </p:sp>
      </p:grpSp>
      <p:grpSp>
        <p:nvGrpSpPr>
          <p:cNvPr name="Group 46" id="46"/>
          <p:cNvGrpSpPr/>
          <p:nvPr/>
        </p:nvGrpSpPr>
        <p:grpSpPr>
          <a:xfrm rot="0">
            <a:off x="13168292" y="4792194"/>
            <a:ext cx="2702219" cy="531749"/>
            <a:chOff x="0" y="0"/>
            <a:chExt cx="1613457" cy="317500"/>
          </a:xfrm>
        </p:grpSpPr>
        <p:sp>
          <p:nvSpPr>
            <p:cNvPr name="Freeform 47" id="47"/>
            <p:cNvSpPr/>
            <p:nvPr/>
          </p:nvSpPr>
          <p:spPr>
            <a:xfrm flipH="false" flipV="false" rot="0">
              <a:off x="0" y="0"/>
              <a:ext cx="1613457" cy="317500"/>
            </a:xfrm>
            <a:custGeom>
              <a:avLst/>
              <a:gdLst/>
              <a:ahLst/>
              <a:cxnLst/>
              <a:rect r="r" b="b" t="t" l="l"/>
              <a:pathLst>
                <a:path h="317500" w="1613457">
                  <a:moveTo>
                    <a:pt x="538110" y="298431"/>
                  </a:moveTo>
                  <a:cubicBezTo>
                    <a:pt x="620827" y="309945"/>
                    <a:pt x="714867" y="317500"/>
                    <a:pt x="807163" y="317500"/>
                  </a:cubicBezTo>
                  <a:cubicBezTo>
                    <a:pt x="899462" y="317500"/>
                    <a:pt x="988277" y="311023"/>
                    <a:pt x="1070122" y="299509"/>
                  </a:cubicBezTo>
                  <a:cubicBezTo>
                    <a:pt x="1071866" y="299150"/>
                    <a:pt x="1073607" y="299150"/>
                    <a:pt x="1075348" y="298790"/>
                  </a:cubicBezTo>
                  <a:cubicBezTo>
                    <a:pt x="1382714" y="252735"/>
                    <a:pt x="1609104" y="131121"/>
                    <a:pt x="1613457" y="0"/>
                  </a:cubicBezTo>
                  <a:lnTo>
                    <a:pt x="1613457" y="0"/>
                  </a:lnTo>
                  <a:lnTo>
                    <a:pt x="0" y="0"/>
                  </a:lnTo>
                  <a:lnTo>
                    <a:pt x="0" y="0"/>
                  </a:lnTo>
                  <a:cubicBezTo>
                    <a:pt x="4354" y="131840"/>
                    <a:pt x="227260" y="253455"/>
                    <a:pt x="538110" y="298431"/>
                  </a:cubicBezTo>
                  <a:close/>
                </a:path>
              </a:pathLst>
            </a:custGeom>
            <a:solidFill>
              <a:srgbClr val="FFBD59"/>
            </a:solidFill>
          </p:spPr>
        </p:sp>
        <p:sp>
          <p:nvSpPr>
            <p:cNvPr name="TextBox 48" id="48"/>
            <p:cNvSpPr txBox="true"/>
            <p:nvPr/>
          </p:nvSpPr>
          <p:spPr>
            <a:xfrm>
              <a:off x="0" y="-47625"/>
              <a:ext cx="1613457" cy="238125"/>
            </a:xfrm>
            <a:prstGeom prst="rect">
              <a:avLst/>
            </a:prstGeom>
          </p:spPr>
          <p:txBody>
            <a:bodyPr anchor="ctr" rtlCol="false" tIns="50800" lIns="50800" bIns="50800" rIns="50800"/>
            <a:lstStyle/>
            <a:p>
              <a:pPr algn="ctr">
                <a:lnSpc>
                  <a:spcPts val="3032"/>
                </a:lnSpc>
              </a:pPr>
            </a:p>
          </p:txBody>
        </p:sp>
      </p:grpSp>
      <p:sp>
        <p:nvSpPr>
          <p:cNvPr name="TextBox 49" id="49"/>
          <p:cNvSpPr txBox="true"/>
          <p:nvPr/>
        </p:nvSpPr>
        <p:spPr>
          <a:xfrm rot="0">
            <a:off x="7109100" y="3953482"/>
            <a:ext cx="4069800" cy="669149"/>
          </a:xfrm>
          <a:prstGeom prst="rect">
            <a:avLst/>
          </a:prstGeom>
        </p:spPr>
        <p:txBody>
          <a:bodyPr anchor="t" rtlCol="false" tIns="0" lIns="0" bIns="0" rIns="0">
            <a:spAutoFit/>
          </a:bodyPr>
          <a:lstStyle/>
          <a:p>
            <a:pPr algn="ctr">
              <a:lnSpc>
                <a:spcPts val="2644"/>
              </a:lnSpc>
            </a:pPr>
            <a:r>
              <a:rPr lang="en-US" b="true" sz="2494">
                <a:solidFill>
                  <a:srgbClr val="000000"/>
                </a:solidFill>
                <a:latin typeface="DM Sans Bold"/>
                <a:ea typeface="DM Sans Bold"/>
                <a:cs typeface="DM Sans Bold"/>
                <a:sym typeface="DM Sans Bold"/>
              </a:rPr>
              <a:t>Transit</a:t>
            </a:r>
            <a:r>
              <a:rPr lang="en-US" b="true" sz="2494">
                <a:solidFill>
                  <a:srgbClr val="000000"/>
                </a:solidFill>
                <a:latin typeface="DM Sans Bold"/>
                <a:ea typeface="DM Sans Bold"/>
                <a:cs typeface="DM Sans Bold"/>
                <a:sym typeface="DM Sans Bold"/>
              </a:rPr>
              <a:t>ion + Liberalisation period</a:t>
            </a:r>
          </a:p>
        </p:txBody>
      </p:sp>
      <p:sp>
        <p:nvSpPr>
          <p:cNvPr name="TextBox 50" id="50"/>
          <p:cNvSpPr txBox="true"/>
          <p:nvPr/>
        </p:nvSpPr>
        <p:spPr>
          <a:xfrm rot="0">
            <a:off x="12484502" y="3924727"/>
            <a:ext cx="4069800" cy="669149"/>
          </a:xfrm>
          <a:prstGeom prst="rect">
            <a:avLst/>
          </a:prstGeom>
        </p:spPr>
        <p:txBody>
          <a:bodyPr anchor="t" rtlCol="false" tIns="0" lIns="0" bIns="0" rIns="0">
            <a:spAutoFit/>
          </a:bodyPr>
          <a:lstStyle/>
          <a:p>
            <a:pPr algn="ctr">
              <a:lnSpc>
                <a:spcPts val="2644"/>
              </a:lnSpc>
            </a:pPr>
            <a:r>
              <a:rPr lang="en-US" b="true" sz="2494">
                <a:solidFill>
                  <a:srgbClr val="000000"/>
                </a:solidFill>
                <a:latin typeface="DM Sans Bold"/>
                <a:ea typeface="DM Sans Bold"/>
                <a:cs typeface="DM Sans Bold"/>
                <a:sym typeface="DM Sans Bold"/>
              </a:rPr>
              <a:t>Market–dr</a:t>
            </a:r>
            <a:r>
              <a:rPr lang="en-US" b="true" sz="2494">
                <a:solidFill>
                  <a:srgbClr val="000000"/>
                </a:solidFill>
                <a:latin typeface="DM Sans Bold"/>
                <a:ea typeface="DM Sans Bold"/>
                <a:cs typeface="DM Sans Bold"/>
                <a:sym typeface="DM Sans Bold"/>
              </a:rPr>
              <a:t>iven, globally connected period</a:t>
            </a:r>
          </a:p>
        </p:txBody>
      </p:sp>
      <p:sp>
        <p:nvSpPr>
          <p:cNvPr name="TextBox 51" id="51"/>
          <p:cNvSpPr txBox="true"/>
          <p:nvPr/>
        </p:nvSpPr>
        <p:spPr>
          <a:xfrm rot="0">
            <a:off x="2978437" y="4838332"/>
            <a:ext cx="1580322" cy="839332"/>
          </a:xfrm>
          <a:prstGeom prst="rect">
            <a:avLst/>
          </a:prstGeom>
        </p:spPr>
        <p:txBody>
          <a:bodyPr anchor="t" rtlCol="false" tIns="0" lIns="0" bIns="0" rIns="0">
            <a:spAutoFit/>
          </a:bodyPr>
          <a:lstStyle/>
          <a:p>
            <a:pPr algn="ctr">
              <a:lnSpc>
                <a:spcPts val="2197"/>
              </a:lnSpc>
            </a:pPr>
            <a:r>
              <a:rPr lang="en-US" b="true" sz="1927">
                <a:solidFill>
                  <a:srgbClr val="000000"/>
                </a:solidFill>
                <a:latin typeface="Oswald Bold"/>
                <a:ea typeface="Oswald Bold"/>
                <a:cs typeface="Oswald Bold"/>
                <a:sym typeface="Oswald Bold"/>
              </a:rPr>
              <a:t>1960 - 1991</a:t>
            </a:r>
          </a:p>
          <a:p>
            <a:pPr algn="ctr">
              <a:lnSpc>
                <a:spcPts val="2197"/>
              </a:lnSpc>
            </a:pPr>
          </a:p>
          <a:p>
            <a:pPr algn="ctr">
              <a:lnSpc>
                <a:spcPts val="2197"/>
              </a:lnSpc>
            </a:pPr>
          </a:p>
        </p:txBody>
      </p:sp>
      <p:sp>
        <p:nvSpPr>
          <p:cNvPr name="TextBox 52" id="52"/>
          <p:cNvSpPr txBox="true"/>
          <p:nvPr/>
        </p:nvSpPr>
        <p:spPr>
          <a:xfrm rot="0">
            <a:off x="8375710" y="4880677"/>
            <a:ext cx="1580322" cy="839332"/>
          </a:xfrm>
          <a:prstGeom prst="rect">
            <a:avLst/>
          </a:prstGeom>
        </p:spPr>
        <p:txBody>
          <a:bodyPr anchor="t" rtlCol="false" tIns="0" lIns="0" bIns="0" rIns="0">
            <a:spAutoFit/>
          </a:bodyPr>
          <a:lstStyle/>
          <a:p>
            <a:pPr algn="ctr">
              <a:lnSpc>
                <a:spcPts val="2197"/>
              </a:lnSpc>
            </a:pPr>
            <a:r>
              <a:rPr lang="en-US" b="true" sz="1927">
                <a:solidFill>
                  <a:srgbClr val="000000"/>
                </a:solidFill>
                <a:latin typeface="Oswald Bold"/>
                <a:ea typeface="Oswald Bold"/>
                <a:cs typeface="Oswald Bold"/>
                <a:sym typeface="Oswald Bold"/>
              </a:rPr>
              <a:t>1991 - 2000</a:t>
            </a:r>
          </a:p>
          <a:p>
            <a:pPr algn="ctr">
              <a:lnSpc>
                <a:spcPts val="2197"/>
              </a:lnSpc>
            </a:pPr>
          </a:p>
          <a:p>
            <a:pPr algn="ctr">
              <a:lnSpc>
                <a:spcPts val="2197"/>
              </a:lnSpc>
            </a:pPr>
          </a:p>
        </p:txBody>
      </p:sp>
      <p:sp>
        <p:nvSpPr>
          <p:cNvPr name="TextBox 53" id="53"/>
          <p:cNvSpPr txBox="true"/>
          <p:nvPr/>
        </p:nvSpPr>
        <p:spPr>
          <a:xfrm rot="0">
            <a:off x="13838997" y="4838332"/>
            <a:ext cx="1580322" cy="839332"/>
          </a:xfrm>
          <a:prstGeom prst="rect">
            <a:avLst/>
          </a:prstGeom>
        </p:spPr>
        <p:txBody>
          <a:bodyPr anchor="t" rtlCol="false" tIns="0" lIns="0" bIns="0" rIns="0">
            <a:spAutoFit/>
          </a:bodyPr>
          <a:lstStyle/>
          <a:p>
            <a:pPr algn="ctr">
              <a:lnSpc>
                <a:spcPts val="2197"/>
              </a:lnSpc>
            </a:pPr>
            <a:r>
              <a:rPr lang="en-US" sz="1927" b="true">
                <a:solidFill>
                  <a:srgbClr val="000000"/>
                </a:solidFill>
                <a:latin typeface="Oswald Bold"/>
                <a:ea typeface="Oswald Bold"/>
                <a:cs typeface="Oswald Bold"/>
                <a:sym typeface="Oswald Bold"/>
              </a:rPr>
              <a:t>2000 -</a:t>
            </a:r>
            <a:r>
              <a:rPr lang="en-US" b="true" sz="1927">
                <a:solidFill>
                  <a:srgbClr val="000000"/>
                </a:solidFill>
                <a:latin typeface="Oswald Bold"/>
                <a:ea typeface="Oswald Bold"/>
                <a:cs typeface="Oswald Bold"/>
                <a:sym typeface="Oswald Bold"/>
              </a:rPr>
              <a:t> 2024</a:t>
            </a:r>
          </a:p>
          <a:p>
            <a:pPr algn="ctr">
              <a:lnSpc>
                <a:spcPts val="2197"/>
              </a:lnSpc>
            </a:pPr>
          </a:p>
          <a:p>
            <a:pPr algn="ctr">
              <a:lnSpc>
                <a:spcPts val="2197"/>
              </a:lnSpc>
            </a:pPr>
          </a:p>
        </p:txBody>
      </p:sp>
      <p:sp>
        <p:nvSpPr>
          <p:cNvPr name="TextBox 54" id="54"/>
          <p:cNvSpPr txBox="true"/>
          <p:nvPr/>
        </p:nvSpPr>
        <p:spPr>
          <a:xfrm rot="0">
            <a:off x="1509149" y="7889497"/>
            <a:ext cx="4516247" cy="1162149"/>
          </a:xfrm>
          <a:prstGeom prst="rect">
            <a:avLst/>
          </a:prstGeom>
        </p:spPr>
        <p:txBody>
          <a:bodyPr anchor="t" rtlCol="false" tIns="0" lIns="0" bIns="0" rIns="0">
            <a:spAutoFit/>
          </a:bodyPr>
          <a:lstStyle/>
          <a:p>
            <a:pPr algn="l" marL="484933" indent="-242466" lvl="1">
              <a:lnSpc>
                <a:spcPts val="3144"/>
              </a:lnSpc>
              <a:buFont typeface="Arial"/>
              <a:buChar char="•"/>
            </a:pPr>
            <a:r>
              <a:rPr lang="en-US" b="true" sz="2246">
                <a:solidFill>
                  <a:srgbClr val="2D2261"/>
                </a:solidFill>
                <a:latin typeface="Red Hat Display Bold"/>
                <a:ea typeface="Red Hat Display Bold"/>
                <a:cs typeface="Red Hat Display Bold"/>
                <a:sym typeface="Red Hat Display Bold"/>
              </a:rPr>
              <a:t>Result</a:t>
            </a:r>
            <a:r>
              <a:rPr lang="en-US" sz="2246">
                <a:solidFill>
                  <a:srgbClr val="2D2261"/>
                </a:solidFill>
                <a:latin typeface="Red Hat Display"/>
                <a:ea typeface="Red Hat Display"/>
                <a:cs typeface="Red Hat Display"/>
                <a:sym typeface="Red Hat Display"/>
              </a:rPr>
              <a:t>: Fixed exchange rate was seen due to control of currency </a:t>
            </a:r>
          </a:p>
        </p:txBody>
      </p:sp>
      <p:sp>
        <p:nvSpPr>
          <p:cNvPr name="TextBox 55" id="55"/>
          <p:cNvSpPr txBox="true"/>
          <p:nvPr/>
        </p:nvSpPr>
        <p:spPr>
          <a:xfrm rot="0">
            <a:off x="6882646" y="5441473"/>
            <a:ext cx="4296254" cy="3505299"/>
          </a:xfrm>
          <a:prstGeom prst="rect">
            <a:avLst/>
          </a:prstGeom>
        </p:spPr>
        <p:txBody>
          <a:bodyPr anchor="t" rtlCol="false" tIns="0" lIns="0" bIns="0" rIns="0">
            <a:spAutoFit/>
          </a:bodyPr>
          <a:lstStyle/>
          <a:p>
            <a:pPr algn="l" marL="484933" indent="-242466" lvl="1">
              <a:lnSpc>
                <a:spcPts val="3144"/>
              </a:lnSpc>
              <a:buFont typeface="Arial"/>
              <a:buChar char="•"/>
            </a:pPr>
            <a:r>
              <a:rPr lang="en-US" sz="2246">
                <a:solidFill>
                  <a:srgbClr val="2D2261"/>
                </a:solidFill>
                <a:latin typeface="Red Hat Display"/>
                <a:ea typeface="Red Hat Display"/>
                <a:cs typeface="Red Hat Display"/>
                <a:sym typeface="Red Hat Display"/>
              </a:rPr>
              <a:t>Balance of Payments crisis in 1991 forced macro reforms.</a:t>
            </a:r>
          </a:p>
          <a:p>
            <a:pPr algn="l" marL="484933" indent="-242466" lvl="1">
              <a:lnSpc>
                <a:spcPts val="3144"/>
              </a:lnSpc>
              <a:buFont typeface="Arial"/>
              <a:buChar char="•"/>
            </a:pPr>
            <a:r>
              <a:rPr lang="en-US" sz="2246">
                <a:solidFill>
                  <a:srgbClr val="2D2261"/>
                </a:solidFill>
                <a:latin typeface="Red Hat Display"/>
                <a:ea typeface="Red Hat Display"/>
                <a:cs typeface="Red Hat Display"/>
                <a:sym typeface="Red Hat Display"/>
              </a:rPr>
              <a:t>Foreign trade, capital flows and investments started opening up g</a:t>
            </a:r>
            <a:r>
              <a:rPr lang="en-US" sz="2246">
                <a:solidFill>
                  <a:srgbClr val="2D2261"/>
                </a:solidFill>
                <a:latin typeface="Red Hat Display"/>
                <a:ea typeface="Red Hat Display"/>
                <a:cs typeface="Red Hat Display"/>
                <a:sym typeface="Red Hat Display"/>
              </a:rPr>
              <a:t>radually.</a:t>
            </a:r>
          </a:p>
          <a:p>
            <a:pPr algn="l" marL="484933" indent="-242466" lvl="1">
              <a:lnSpc>
                <a:spcPts val="3144"/>
              </a:lnSpc>
              <a:buFont typeface="Arial"/>
              <a:buChar char="•"/>
            </a:pPr>
            <a:r>
              <a:rPr lang="en-US" b="true" sz="2246">
                <a:solidFill>
                  <a:srgbClr val="2D2261"/>
                </a:solidFill>
                <a:latin typeface="Red Hat Display Bold"/>
                <a:ea typeface="Red Hat Display Bold"/>
                <a:cs typeface="Red Hat Display Bold"/>
                <a:sym typeface="Red Hat Display Bold"/>
              </a:rPr>
              <a:t>Result</a:t>
            </a:r>
            <a:r>
              <a:rPr lang="en-US" sz="2246">
                <a:solidFill>
                  <a:srgbClr val="2D2261"/>
                </a:solidFill>
                <a:latin typeface="Red Hat Display"/>
                <a:ea typeface="Red Hat Display"/>
                <a:cs typeface="Red Hat Display"/>
                <a:sym typeface="Red Hat Display"/>
              </a:rPr>
              <a:t>: Volatility increased, but market depth was still developing. This period shows “adjustment volatility” </a:t>
            </a:r>
          </a:p>
        </p:txBody>
      </p:sp>
      <p:sp>
        <p:nvSpPr>
          <p:cNvPr name="TextBox 56" id="56"/>
          <p:cNvSpPr txBox="true"/>
          <p:nvPr/>
        </p:nvSpPr>
        <p:spPr>
          <a:xfrm rot="0">
            <a:off x="12258795" y="4982694"/>
            <a:ext cx="4516247" cy="4172099"/>
          </a:xfrm>
          <a:prstGeom prst="rect">
            <a:avLst/>
          </a:prstGeom>
        </p:spPr>
        <p:txBody>
          <a:bodyPr anchor="t" rtlCol="false" tIns="0" lIns="0" bIns="0" rIns="0">
            <a:spAutoFit/>
          </a:bodyPr>
          <a:lstStyle/>
          <a:p>
            <a:pPr algn="l">
              <a:lnSpc>
                <a:spcPts val="3369"/>
              </a:lnSpc>
            </a:pPr>
          </a:p>
          <a:p>
            <a:pPr algn="l" marL="484933" indent="-242466" lvl="1">
              <a:lnSpc>
                <a:spcPts val="3369"/>
              </a:lnSpc>
              <a:buFont typeface="Arial"/>
              <a:buChar char="•"/>
            </a:pPr>
            <a:r>
              <a:rPr lang="en-US" sz="2246">
                <a:solidFill>
                  <a:srgbClr val="2D2261"/>
                </a:solidFill>
                <a:latin typeface="Red Hat Display"/>
                <a:ea typeface="Red Hat Display"/>
                <a:cs typeface="Red Hat Display"/>
                <a:sym typeface="Red Hat Display"/>
              </a:rPr>
              <a:t>Exchange rate is now flexible and reacts to global shocks.</a:t>
            </a:r>
          </a:p>
          <a:p>
            <a:pPr algn="l" marL="484933" indent="-242466" lvl="1">
              <a:lnSpc>
                <a:spcPts val="3369"/>
              </a:lnSpc>
              <a:buFont typeface="Arial"/>
              <a:buChar char="•"/>
            </a:pPr>
            <a:r>
              <a:rPr lang="en-US" sz="2246">
                <a:solidFill>
                  <a:srgbClr val="2D2261"/>
                </a:solidFill>
                <a:latin typeface="Red Hat Display"/>
                <a:ea typeface="Red Hat Display"/>
                <a:cs typeface="Red Hat Display"/>
                <a:sym typeface="Red Hat Display"/>
              </a:rPr>
              <a:t>Large swings during events like 2008 crisis, </a:t>
            </a:r>
            <a:r>
              <a:rPr lang="en-US" sz="2246">
                <a:solidFill>
                  <a:srgbClr val="2D2261"/>
                </a:solidFill>
                <a:latin typeface="Red Hat Display"/>
                <a:ea typeface="Red Hat Display"/>
                <a:cs typeface="Red Hat Display"/>
                <a:sym typeface="Red Hat Display"/>
              </a:rPr>
              <a:t>2020 COVID shock.</a:t>
            </a:r>
          </a:p>
          <a:p>
            <a:pPr algn="l" marL="484933" indent="-242466" lvl="1">
              <a:lnSpc>
                <a:spcPts val="3369"/>
              </a:lnSpc>
              <a:buFont typeface="Arial"/>
              <a:buChar char="•"/>
            </a:pPr>
            <a:r>
              <a:rPr lang="en-US" b="true" sz="2246">
                <a:solidFill>
                  <a:srgbClr val="2D2261"/>
                </a:solidFill>
                <a:latin typeface="Red Hat Display Bold"/>
                <a:ea typeface="Red Hat Display Bold"/>
                <a:cs typeface="Red Hat Display Bold"/>
                <a:sym typeface="Red Hat Display Bold"/>
              </a:rPr>
              <a:t>Result:</a:t>
            </a:r>
            <a:r>
              <a:rPr lang="en-US" sz="2246">
                <a:solidFill>
                  <a:srgbClr val="2D2261"/>
                </a:solidFill>
                <a:latin typeface="Red Hat Display"/>
                <a:ea typeface="Red Hat Display"/>
                <a:cs typeface="Red Hat Display"/>
                <a:sym typeface="Red Hat Display"/>
              </a:rPr>
              <a:t> This period shows the highest volatility because the rupee is now mostly market determined and sensitive to global risk sentiment.</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587767" y="1345977"/>
            <a:ext cx="9921203" cy="948698"/>
          </a:xfrm>
          <a:prstGeom prst="rect">
            <a:avLst/>
          </a:prstGeom>
        </p:spPr>
        <p:txBody>
          <a:bodyPr anchor="t" rtlCol="false" tIns="0" lIns="0" bIns="0" rIns="0">
            <a:spAutoFit/>
          </a:bodyPr>
          <a:lstStyle/>
          <a:p>
            <a:pPr algn="l">
              <a:lnSpc>
                <a:spcPts val="3775"/>
              </a:lnSpc>
            </a:pPr>
            <a:r>
              <a:rPr lang="en-US" sz="3034" b="true">
                <a:solidFill>
                  <a:srgbClr val="2D2261"/>
                </a:solidFill>
                <a:latin typeface="Red Hat Display Bold"/>
                <a:ea typeface="Red Hat Display Bold"/>
                <a:cs typeface="Red Hat Display Bold"/>
                <a:sym typeface="Red Hat Display Bold"/>
              </a:rPr>
              <a:t>Log-Return Formula (Used to Measure Volatility)</a:t>
            </a:r>
            <a:r>
              <a:rPr lang="en-US" sz="3034" b="true">
                <a:solidFill>
                  <a:srgbClr val="2D2261"/>
                </a:solidFill>
                <a:latin typeface="Red Hat Display Bold"/>
                <a:ea typeface="Red Hat Display Bold"/>
                <a:cs typeface="Red Hat Display Bold"/>
                <a:sym typeface="Red Hat Display Bold"/>
              </a:rPr>
              <a:t>.</a:t>
            </a:r>
          </a:p>
          <a:p>
            <a:pPr algn="l">
              <a:lnSpc>
                <a:spcPts val="3775"/>
              </a:lnSpc>
            </a:pPr>
          </a:p>
        </p:txBody>
      </p:sp>
      <p:sp>
        <p:nvSpPr>
          <p:cNvPr name="Freeform 3" id="3"/>
          <p:cNvSpPr/>
          <p:nvPr/>
        </p:nvSpPr>
        <p:spPr>
          <a:xfrm flipH="false" flipV="false" rot="0">
            <a:off x="5992777" y="-3558111"/>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830696">
            <a:off x="6984220" y="10491916"/>
            <a:ext cx="1893158" cy="2747327"/>
          </a:xfrm>
          <a:custGeom>
            <a:avLst/>
            <a:gdLst/>
            <a:ahLst/>
            <a:cxnLst/>
            <a:rect r="r" b="b" t="t" l="l"/>
            <a:pathLst>
              <a:path h="2747327" w="1893158">
                <a:moveTo>
                  <a:pt x="0" y="0"/>
                </a:moveTo>
                <a:lnTo>
                  <a:pt x="1893158" y="0"/>
                </a:lnTo>
                <a:lnTo>
                  <a:pt x="1893158" y="2747327"/>
                </a:lnTo>
                <a:lnTo>
                  <a:pt x="0" y="27473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0"/>
            <a:ext cx="3225721" cy="10287000"/>
          </a:xfrm>
          <a:custGeom>
            <a:avLst/>
            <a:gdLst/>
            <a:ahLst/>
            <a:cxnLst/>
            <a:rect r="r" b="b" t="t" l="l"/>
            <a:pathLst>
              <a:path h="10287000" w="3225721">
                <a:moveTo>
                  <a:pt x="0" y="0"/>
                </a:moveTo>
                <a:lnTo>
                  <a:pt x="3225721" y="0"/>
                </a:lnTo>
                <a:lnTo>
                  <a:pt x="3225721" y="10287000"/>
                </a:lnTo>
                <a:lnTo>
                  <a:pt x="0" y="10287000"/>
                </a:lnTo>
                <a:lnTo>
                  <a:pt x="0" y="0"/>
                </a:lnTo>
                <a:close/>
              </a:path>
            </a:pathLst>
          </a:custGeom>
          <a:blipFill>
            <a:blip r:embed="rId6"/>
            <a:stretch>
              <a:fillRect l="0" t="0" r="0" b="0"/>
            </a:stretch>
          </a:blipFill>
        </p:spPr>
      </p:sp>
      <p:sp>
        <p:nvSpPr>
          <p:cNvPr name="Freeform 6" id="6"/>
          <p:cNvSpPr/>
          <p:nvPr/>
        </p:nvSpPr>
        <p:spPr>
          <a:xfrm flipH="false" flipV="false" rot="0">
            <a:off x="13178156" y="-16263"/>
            <a:ext cx="5109844" cy="8406941"/>
          </a:xfrm>
          <a:custGeom>
            <a:avLst/>
            <a:gdLst/>
            <a:ahLst/>
            <a:cxnLst/>
            <a:rect r="r" b="b" t="t" l="l"/>
            <a:pathLst>
              <a:path h="8406941" w="5109844">
                <a:moveTo>
                  <a:pt x="0" y="0"/>
                </a:moveTo>
                <a:lnTo>
                  <a:pt x="5109844" y="0"/>
                </a:lnTo>
                <a:lnTo>
                  <a:pt x="5109844" y="8406940"/>
                </a:lnTo>
                <a:lnTo>
                  <a:pt x="0" y="8406940"/>
                </a:lnTo>
                <a:lnTo>
                  <a:pt x="0" y="0"/>
                </a:lnTo>
                <a:close/>
              </a:path>
            </a:pathLst>
          </a:custGeom>
          <a:blipFill>
            <a:blip r:embed="rId7"/>
            <a:stretch>
              <a:fillRect l="0" t="0" r="0" b="0"/>
            </a:stretch>
          </a:blipFill>
        </p:spPr>
      </p:sp>
      <p:sp>
        <p:nvSpPr>
          <p:cNvPr name="Freeform 7" id="7"/>
          <p:cNvSpPr/>
          <p:nvPr/>
        </p:nvSpPr>
        <p:spPr>
          <a:xfrm flipH="false" flipV="false" rot="0">
            <a:off x="13013661" y="9258300"/>
            <a:ext cx="5438835" cy="923917"/>
          </a:xfrm>
          <a:custGeom>
            <a:avLst/>
            <a:gdLst/>
            <a:ahLst/>
            <a:cxnLst/>
            <a:rect r="r" b="b" t="t" l="l"/>
            <a:pathLst>
              <a:path h="923917" w="5438835">
                <a:moveTo>
                  <a:pt x="0" y="0"/>
                </a:moveTo>
                <a:lnTo>
                  <a:pt x="5438835" y="0"/>
                </a:lnTo>
                <a:lnTo>
                  <a:pt x="5438835" y="923917"/>
                </a:lnTo>
                <a:lnTo>
                  <a:pt x="0" y="923917"/>
                </a:lnTo>
                <a:lnTo>
                  <a:pt x="0" y="0"/>
                </a:lnTo>
                <a:close/>
              </a:path>
            </a:pathLst>
          </a:custGeom>
          <a:blipFill>
            <a:blip r:embed="rId8"/>
            <a:stretch>
              <a:fillRect l="0" t="-192491" r="-54356" b="0"/>
            </a:stretch>
          </a:blipFill>
        </p:spPr>
      </p:sp>
      <p:sp>
        <p:nvSpPr>
          <p:cNvPr name="Freeform 8" id="8"/>
          <p:cNvSpPr/>
          <p:nvPr/>
        </p:nvSpPr>
        <p:spPr>
          <a:xfrm flipH="false" flipV="false" rot="5400000">
            <a:off x="15550913" y="8763438"/>
            <a:ext cx="899203" cy="153682"/>
          </a:xfrm>
          <a:custGeom>
            <a:avLst/>
            <a:gdLst/>
            <a:ahLst/>
            <a:cxnLst/>
            <a:rect r="r" b="b" t="t" l="l"/>
            <a:pathLst>
              <a:path h="153682" w="899203">
                <a:moveTo>
                  <a:pt x="0" y="0"/>
                </a:moveTo>
                <a:lnTo>
                  <a:pt x="899203" y="0"/>
                </a:lnTo>
                <a:lnTo>
                  <a:pt x="899203" y="153682"/>
                </a:lnTo>
                <a:lnTo>
                  <a:pt x="0" y="1536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4098794" y="2109486"/>
            <a:ext cx="7708837" cy="2032330"/>
          </a:xfrm>
          <a:custGeom>
            <a:avLst/>
            <a:gdLst/>
            <a:ahLst/>
            <a:cxnLst/>
            <a:rect r="r" b="b" t="t" l="l"/>
            <a:pathLst>
              <a:path h="2032330" w="7708837">
                <a:moveTo>
                  <a:pt x="0" y="0"/>
                </a:moveTo>
                <a:lnTo>
                  <a:pt x="7708838" y="0"/>
                </a:lnTo>
                <a:lnTo>
                  <a:pt x="7708838" y="2032330"/>
                </a:lnTo>
                <a:lnTo>
                  <a:pt x="0" y="2032330"/>
                </a:lnTo>
                <a:lnTo>
                  <a:pt x="0" y="0"/>
                </a:lnTo>
                <a:close/>
              </a:path>
            </a:pathLst>
          </a:custGeom>
          <a:blipFill>
            <a:blip r:embed="rId11"/>
            <a:stretch>
              <a:fillRect l="0" t="0" r="0" b="0"/>
            </a:stretch>
          </a:blipFill>
        </p:spPr>
      </p:sp>
      <p:sp>
        <p:nvSpPr>
          <p:cNvPr name="Freeform 10" id="10"/>
          <p:cNvSpPr/>
          <p:nvPr/>
        </p:nvSpPr>
        <p:spPr>
          <a:xfrm flipH="false" flipV="false" rot="0">
            <a:off x="4098794" y="4317093"/>
            <a:ext cx="7723836" cy="2144779"/>
          </a:xfrm>
          <a:custGeom>
            <a:avLst/>
            <a:gdLst/>
            <a:ahLst/>
            <a:cxnLst/>
            <a:rect r="r" b="b" t="t" l="l"/>
            <a:pathLst>
              <a:path h="2144779" w="7723836">
                <a:moveTo>
                  <a:pt x="0" y="0"/>
                </a:moveTo>
                <a:lnTo>
                  <a:pt x="7723836" y="0"/>
                </a:lnTo>
                <a:lnTo>
                  <a:pt x="7723836" y="2144779"/>
                </a:lnTo>
                <a:lnTo>
                  <a:pt x="0" y="2144779"/>
                </a:lnTo>
                <a:lnTo>
                  <a:pt x="0" y="0"/>
                </a:lnTo>
                <a:close/>
              </a:path>
            </a:pathLst>
          </a:custGeom>
          <a:blipFill>
            <a:blip r:embed="rId12"/>
            <a:stretch>
              <a:fillRect l="0" t="0" r="0" b="0"/>
            </a:stretch>
          </a:blipFill>
        </p:spPr>
      </p:sp>
      <p:sp>
        <p:nvSpPr>
          <p:cNvPr name="TextBox 11" id="11"/>
          <p:cNvSpPr txBox="true"/>
          <p:nvPr/>
        </p:nvSpPr>
        <p:spPr>
          <a:xfrm rot="0">
            <a:off x="3738425" y="6670284"/>
            <a:ext cx="9619887" cy="417855"/>
          </a:xfrm>
          <a:prstGeom prst="rect">
            <a:avLst/>
          </a:prstGeom>
        </p:spPr>
        <p:txBody>
          <a:bodyPr anchor="t" rtlCol="false" tIns="0" lIns="0" bIns="0" rIns="0">
            <a:spAutoFit/>
          </a:bodyPr>
          <a:lstStyle/>
          <a:p>
            <a:pPr algn="l">
              <a:lnSpc>
                <a:spcPts val="3398"/>
              </a:lnSpc>
            </a:pPr>
            <a:r>
              <a:rPr lang="en-US" sz="2732" b="true">
                <a:solidFill>
                  <a:srgbClr val="2D2261"/>
                </a:solidFill>
                <a:latin typeface="Red Hat Display Bold"/>
                <a:ea typeface="Red Hat Display Bold"/>
                <a:cs typeface="Red Hat Display Bold"/>
                <a:sym typeface="Red Hat Display Bold"/>
              </a:rPr>
              <a:t>Use exchange rate log. returns for ANOVA analyses</a:t>
            </a:r>
            <a:r>
              <a:rPr lang="en-US" sz="2732" b="true">
                <a:solidFill>
                  <a:srgbClr val="2D2261"/>
                </a:solidFill>
                <a:latin typeface="Red Hat Display Bold"/>
                <a:ea typeface="Red Hat Display Bold"/>
                <a:cs typeface="Red Hat Display Bold"/>
                <a:sym typeface="Red Hat Display Bold"/>
              </a:rPr>
              <a:t>.</a:t>
            </a:r>
          </a:p>
        </p:txBody>
      </p:sp>
      <p:sp>
        <p:nvSpPr>
          <p:cNvPr name="TextBox 12" id="12"/>
          <p:cNvSpPr txBox="true"/>
          <p:nvPr/>
        </p:nvSpPr>
        <p:spPr>
          <a:xfrm rot="0">
            <a:off x="3587767" y="7259589"/>
            <a:ext cx="8585459" cy="853254"/>
          </a:xfrm>
          <a:prstGeom prst="rect">
            <a:avLst/>
          </a:prstGeom>
        </p:spPr>
        <p:txBody>
          <a:bodyPr anchor="t" rtlCol="false" tIns="0" lIns="0" bIns="0" rIns="0">
            <a:spAutoFit/>
          </a:bodyPr>
          <a:lstStyle/>
          <a:p>
            <a:pPr algn="l" marL="527616" indent="-263808" lvl="1">
              <a:lnSpc>
                <a:spcPts val="3421"/>
              </a:lnSpc>
              <a:buFont typeface="Arial"/>
              <a:buChar char="•"/>
            </a:pPr>
            <a:r>
              <a:rPr lang="en-US" b="true" sz="2443">
                <a:solidFill>
                  <a:srgbClr val="000000"/>
                </a:solidFill>
                <a:latin typeface="DM Sans Bold"/>
                <a:ea typeface="DM Sans Bold"/>
                <a:cs typeface="DM Sans Bold"/>
                <a:sym typeface="DM Sans Bold"/>
              </a:rPr>
              <a:t>Meet statistical assumptions better</a:t>
            </a:r>
          </a:p>
          <a:p>
            <a:pPr algn="l" marL="527616" indent="-263808" lvl="1">
              <a:lnSpc>
                <a:spcPts val="3421"/>
              </a:lnSpc>
              <a:buFont typeface="Arial"/>
              <a:buChar char="•"/>
            </a:pPr>
            <a:r>
              <a:rPr lang="en-US" b="true" sz="2443">
                <a:solidFill>
                  <a:srgbClr val="000000"/>
                </a:solidFill>
                <a:latin typeface="DM Sans Bold"/>
                <a:ea typeface="DM Sans Bold"/>
                <a:cs typeface="DM Sans Bold"/>
                <a:sym typeface="DM Sans Bold"/>
              </a:rPr>
              <a:t>Provide meaningful economic insights about volatility</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7759517" y="-533003"/>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624874">
            <a:off x="-1345023" y="93731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639975" y="1282163"/>
            <a:ext cx="11151541" cy="4954424"/>
          </a:xfrm>
          <a:custGeom>
            <a:avLst/>
            <a:gdLst/>
            <a:ahLst/>
            <a:cxnLst/>
            <a:rect r="r" b="b" t="t" l="l"/>
            <a:pathLst>
              <a:path h="4954424" w="11151541">
                <a:moveTo>
                  <a:pt x="0" y="0"/>
                </a:moveTo>
                <a:lnTo>
                  <a:pt x="11151541" y="0"/>
                </a:lnTo>
                <a:lnTo>
                  <a:pt x="11151541" y="4954424"/>
                </a:lnTo>
                <a:lnTo>
                  <a:pt x="0" y="4954424"/>
                </a:lnTo>
                <a:lnTo>
                  <a:pt x="0" y="0"/>
                </a:lnTo>
                <a:close/>
              </a:path>
            </a:pathLst>
          </a:custGeom>
          <a:blipFill>
            <a:blip r:embed="rId8"/>
            <a:stretch>
              <a:fillRect l="0" t="0" r="0" b="0"/>
            </a:stretch>
          </a:blipFill>
        </p:spPr>
      </p:sp>
      <p:sp>
        <p:nvSpPr>
          <p:cNvPr name="Freeform 6" id="6"/>
          <p:cNvSpPr/>
          <p:nvPr/>
        </p:nvSpPr>
        <p:spPr>
          <a:xfrm flipH="false" flipV="false" rot="0">
            <a:off x="2436469" y="6557605"/>
            <a:ext cx="5081353" cy="1080840"/>
          </a:xfrm>
          <a:custGeom>
            <a:avLst/>
            <a:gdLst/>
            <a:ahLst/>
            <a:cxnLst/>
            <a:rect r="r" b="b" t="t" l="l"/>
            <a:pathLst>
              <a:path h="1080840" w="5081353">
                <a:moveTo>
                  <a:pt x="0" y="0"/>
                </a:moveTo>
                <a:lnTo>
                  <a:pt x="5081352" y="0"/>
                </a:lnTo>
                <a:lnTo>
                  <a:pt x="5081352" y="1080840"/>
                </a:lnTo>
                <a:lnTo>
                  <a:pt x="0" y="1080840"/>
                </a:lnTo>
                <a:lnTo>
                  <a:pt x="0" y="0"/>
                </a:lnTo>
                <a:close/>
              </a:path>
            </a:pathLst>
          </a:custGeom>
          <a:blipFill>
            <a:blip r:embed="rId9"/>
            <a:stretch>
              <a:fillRect l="0" t="0" r="0" b="0"/>
            </a:stretch>
          </a:blipFill>
        </p:spPr>
      </p:sp>
      <p:sp>
        <p:nvSpPr>
          <p:cNvPr name="TextBox 7" id="7"/>
          <p:cNvSpPr txBox="true"/>
          <p:nvPr/>
        </p:nvSpPr>
        <p:spPr>
          <a:xfrm rot="0">
            <a:off x="7517821" y="6827290"/>
            <a:ext cx="5277219" cy="484319"/>
          </a:xfrm>
          <a:prstGeom prst="rect">
            <a:avLst/>
          </a:prstGeom>
        </p:spPr>
        <p:txBody>
          <a:bodyPr anchor="t" rtlCol="false" tIns="0" lIns="0" bIns="0" rIns="0">
            <a:spAutoFit/>
          </a:bodyPr>
          <a:lstStyle/>
          <a:p>
            <a:pPr algn="ctr">
              <a:lnSpc>
                <a:spcPts val="3927"/>
              </a:lnSpc>
            </a:pPr>
            <a:r>
              <a:rPr lang="en-US" sz="2805" b="true">
                <a:solidFill>
                  <a:srgbClr val="000000"/>
                </a:solidFill>
                <a:latin typeface="Red Hat Display Bold"/>
                <a:ea typeface="Red Hat Display Bold"/>
                <a:cs typeface="Red Hat Display Bold"/>
                <a:sym typeface="Red Hat Display Bold"/>
              </a:rPr>
              <a:t>Reject</a:t>
            </a:r>
            <a:r>
              <a:rPr lang="en-US" b="true" sz="2805">
                <a:solidFill>
                  <a:srgbClr val="000000"/>
                </a:solidFill>
                <a:latin typeface="Red Hat Display Bold"/>
                <a:ea typeface="Red Hat Display Bold"/>
                <a:cs typeface="Red Hat Display Bold"/>
                <a:sym typeface="Red Hat Display Bold"/>
              </a:rPr>
              <a:t> the Null Hypothesis (H₀).</a:t>
            </a:r>
          </a:p>
        </p:txBody>
      </p:sp>
      <p:sp>
        <p:nvSpPr>
          <p:cNvPr name="TextBox 8" id="8"/>
          <p:cNvSpPr txBox="true"/>
          <p:nvPr/>
        </p:nvSpPr>
        <p:spPr>
          <a:xfrm rot="0">
            <a:off x="1609247" y="7799018"/>
            <a:ext cx="13704689" cy="1180236"/>
          </a:xfrm>
          <a:prstGeom prst="rect">
            <a:avLst/>
          </a:prstGeom>
        </p:spPr>
        <p:txBody>
          <a:bodyPr anchor="t" rtlCol="false" tIns="0" lIns="0" bIns="0" rIns="0">
            <a:spAutoFit/>
          </a:bodyPr>
          <a:lstStyle/>
          <a:p>
            <a:pPr algn="ctr" marL="493120" indent="-246560" lvl="1">
              <a:lnSpc>
                <a:spcPts val="3197"/>
              </a:lnSpc>
              <a:buFont typeface="Arial"/>
              <a:buChar char="•"/>
            </a:pPr>
            <a:r>
              <a:rPr lang="en-US" sz="2284">
                <a:solidFill>
                  <a:srgbClr val="000000"/>
                </a:solidFill>
                <a:latin typeface="Canva Sans"/>
                <a:ea typeface="Canva Sans"/>
                <a:cs typeface="Canva Sans"/>
                <a:sym typeface="Canva Sans"/>
              </a:rPr>
              <a:t>There is</a:t>
            </a:r>
            <a:r>
              <a:rPr lang="en-US" sz="2284">
                <a:solidFill>
                  <a:srgbClr val="000000"/>
                </a:solidFill>
                <a:latin typeface="Canva Sans"/>
                <a:ea typeface="Canva Sans"/>
                <a:cs typeface="Canva Sans"/>
                <a:sym typeface="Canva Sans"/>
              </a:rPr>
              <a:t> a significant difference in the mean exchange rate log-returns among the three phases:</a:t>
            </a:r>
          </a:p>
          <a:p>
            <a:pPr algn="ctr" marL="493120" indent="-246560" lvl="1">
              <a:lnSpc>
                <a:spcPts val="3197"/>
              </a:lnSpc>
              <a:buFont typeface="Arial"/>
              <a:buChar char="•"/>
            </a:pPr>
          </a:p>
          <a:p>
            <a:pPr algn="ctr" marL="493120" indent="-246560" lvl="1">
              <a:lnSpc>
                <a:spcPts val="3197"/>
              </a:lnSpc>
              <a:buFont typeface="Arial"/>
              <a:buChar char="•"/>
            </a:pPr>
          </a:p>
        </p:txBody>
      </p:sp>
      <p:sp>
        <p:nvSpPr>
          <p:cNvPr name="TextBox 9" id="9"/>
          <p:cNvSpPr txBox="true"/>
          <p:nvPr/>
        </p:nvSpPr>
        <p:spPr>
          <a:xfrm rot="0">
            <a:off x="2079490" y="8197536"/>
            <a:ext cx="14804434" cy="383199"/>
          </a:xfrm>
          <a:prstGeom prst="rect">
            <a:avLst/>
          </a:prstGeom>
        </p:spPr>
        <p:txBody>
          <a:bodyPr anchor="t" rtlCol="false" tIns="0" lIns="0" bIns="0" rIns="0">
            <a:spAutoFit/>
          </a:bodyPr>
          <a:lstStyle/>
          <a:p>
            <a:pPr algn="ctr">
              <a:lnSpc>
                <a:spcPts val="3197"/>
              </a:lnSpc>
            </a:pPr>
            <a:r>
              <a:rPr lang="en-US" sz="2284">
                <a:solidFill>
                  <a:srgbClr val="000000"/>
                </a:solidFill>
                <a:latin typeface="Canva Sans"/>
                <a:ea typeface="Canva Sans"/>
                <a:cs typeface="Canva Sans"/>
                <a:sym typeface="Canva Sans"/>
              </a:rPr>
              <a:t>Exchange rate changed </a:t>
            </a:r>
            <a:r>
              <a:rPr lang="en-US" sz="2284">
                <a:solidFill>
                  <a:srgbClr val="000000"/>
                </a:solidFill>
                <a:latin typeface="Canva Sans"/>
                <a:ea typeface="Canva Sans"/>
                <a:cs typeface="Canva Sans"/>
                <a:sym typeface="Canva Sans"/>
              </a:rPr>
              <a:t>especially after liberalization (1991), and again in the post-2000 globalized phase.</a:t>
            </a:r>
          </a:p>
        </p:txBody>
      </p:sp>
      <p:sp>
        <p:nvSpPr>
          <p:cNvPr name="TextBox 10" id="10"/>
          <p:cNvSpPr txBox="true"/>
          <p:nvPr/>
        </p:nvSpPr>
        <p:spPr>
          <a:xfrm rot="0">
            <a:off x="2079490" y="8605245"/>
            <a:ext cx="12049733" cy="383199"/>
          </a:xfrm>
          <a:prstGeom prst="rect">
            <a:avLst/>
          </a:prstGeom>
        </p:spPr>
        <p:txBody>
          <a:bodyPr anchor="t" rtlCol="false" tIns="0" lIns="0" bIns="0" rIns="0">
            <a:spAutoFit/>
          </a:bodyPr>
          <a:lstStyle/>
          <a:p>
            <a:pPr algn="ctr">
              <a:lnSpc>
                <a:spcPts val="3197"/>
              </a:lnSpc>
            </a:pPr>
            <a:r>
              <a:rPr lang="en-US" sz="2284">
                <a:solidFill>
                  <a:srgbClr val="000000"/>
                </a:solidFill>
                <a:latin typeface="Canva Sans"/>
                <a:ea typeface="Canva Sans"/>
                <a:cs typeface="Canva Sans"/>
                <a:sym typeface="Canva Sans"/>
              </a:rPr>
              <a:t>Phase 2 shows the high</a:t>
            </a:r>
            <a:r>
              <a:rPr lang="en-US" sz="2284">
                <a:solidFill>
                  <a:srgbClr val="000000"/>
                </a:solidFill>
                <a:latin typeface="Canva Sans"/>
                <a:ea typeface="Canva Sans"/>
                <a:cs typeface="Canva Sans"/>
                <a:sym typeface="Canva Sans"/>
              </a:rPr>
              <a:t>est average return, suggesting a more volatile or higher growth</a:t>
            </a:r>
          </a:p>
        </p:txBody>
      </p:sp>
      <p:sp>
        <p:nvSpPr>
          <p:cNvPr name="TextBox 11" id="11"/>
          <p:cNvSpPr txBox="true"/>
          <p:nvPr/>
        </p:nvSpPr>
        <p:spPr>
          <a:xfrm rot="0">
            <a:off x="1609247" y="9017020"/>
            <a:ext cx="10853998" cy="786313"/>
          </a:xfrm>
          <a:prstGeom prst="rect">
            <a:avLst/>
          </a:prstGeom>
        </p:spPr>
        <p:txBody>
          <a:bodyPr anchor="t" rtlCol="false" tIns="0" lIns="0" bIns="0" rIns="0">
            <a:spAutoFit/>
          </a:bodyPr>
          <a:lstStyle/>
          <a:p>
            <a:pPr algn="ctr" marL="493121" indent="-246560" lvl="1">
              <a:lnSpc>
                <a:spcPts val="3197"/>
              </a:lnSpc>
              <a:buFont typeface="Arial"/>
              <a:buChar char="•"/>
            </a:pPr>
            <a:r>
              <a:rPr lang="en-US" sz="2284">
                <a:solidFill>
                  <a:srgbClr val="000000"/>
                </a:solidFill>
                <a:latin typeface="Canva Sans"/>
                <a:ea typeface="Canva Sans"/>
                <a:cs typeface="Canva Sans"/>
                <a:sym typeface="Canva Sans"/>
              </a:rPr>
              <a:t>Phase 3’s negative mean hint</a:t>
            </a:r>
            <a:r>
              <a:rPr lang="en-US" sz="2284">
                <a:solidFill>
                  <a:srgbClr val="000000"/>
                </a:solidFill>
                <a:latin typeface="Canva Sans"/>
                <a:ea typeface="Canva Sans"/>
                <a:cs typeface="Canva Sans"/>
                <a:sym typeface="Canva Sans"/>
              </a:rPr>
              <a:t>s at stabilization trends in more recent years.</a:t>
            </a:r>
          </a:p>
          <a:p>
            <a:pPr algn="ctr">
              <a:lnSpc>
                <a:spcPts val="3197"/>
              </a:lnSpc>
            </a:pPr>
          </a:p>
        </p:txBody>
      </p:sp>
      <p:sp>
        <p:nvSpPr>
          <p:cNvPr name="TextBox 12" id="12"/>
          <p:cNvSpPr txBox="true"/>
          <p:nvPr/>
        </p:nvSpPr>
        <p:spPr>
          <a:xfrm rot="0">
            <a:off x="3768227" y="336361"/>
            <a:ext cx="10751545" cy="621952"/>
          </a:xfrm>
          <a:prstGeom prst="rect">
            <a:avLst/>
          </a:prstGeom>
        </p:spPr>
        <p:txBody>
          <a:bodyPr anchor="t" rtlCol="false" tIns="0" lIns="0" bIns="0" rIns="0">
            <a:spAutoFit/>
          </a:bodyPr>
          <a:lstStyle/>
          <a:p>
            <a:pPr algn="ctr">
              <a:lnSpc>
                <a:spcPts val="5126"/>
              </a:lnSpc>
            </a:pPr>
            <a:r>
              <a:rPr lang="en-US" sz="3661" b="true">
                <a:solidFill>
                  <a:srgbClr val="000000"/>
                </a:solidFill>
                <a:latin typeface="Canva Sans Bold"/>
                <a:ea typeface="Canva Sans Bold"/>
                <a:cs typeface="Canva Sans Bold"/>
                <a:sym typeface="Canva Sans Bold"/>
              </a:rPr>
              <a:t>Exchange rate log. returns Anova Analysis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7759517" y="-533003"/>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624874">
            <a:off x="-1345023" y="93731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341998" y="1397386"/>
            <a:ext cx="12798274" cy="5823215"/>
          </a:xfrm>
          <a:custGeom>
            <a:avLst/>
            <a:gdLst/>
            <a:ahLst/>
            <a:cxnLst/>
            <a:rect r="r" b="b" t="t" l="l"/>
            <a:pathLst>
              <a:path h="5823215" w="12798274">
                <a:moveTo>
                  <a:pt x="0" y="0"/>
                </a:moveTo>
                <a:lnTo>
                  <a:pt x="12798274" y="0"/>
                </a:lnTo>
                <a:lnTo>
                  <a:pt x="12798274" y="5823215"/>
                </a:lnTo>
                <a:lnTo>
                  <a:pt x="0" y="5823215"/>
                </a:lnTo>
                <a:lnTo>
                  <a:pt x="0" y="0"/>
                </a:lnTo>
                <a:close/>
              </a:path>
            </a:pathLst>
          </a:custGeom>
          <a:blipFill>
            <a:blip r:embed="rId8"/>
            <a:stretch>
              <a:fillRect l="0" t="0" r="0" b="0"/>
            </a:stretch>
          </a:blipFill>
        </p:spPr>
      </p:sp>
      <p:sp>
        <p:nvSpPr>
          <p:cNvPr name="TextBox 6" id="6"/>
          <p:cNvSpPr txBox="true"/>
          <p:nvPr/>
        </p:nvSpPr>
        <p:spPr>
          <a:xfrm rot="0">
            <a:off x="3768227" y="336361"/>
            <a:ext cx="10751545" cy="1270240"/>
          </a:xfrm>
          <a:prstGeom prst="rect">
            <a:avLst/>
          </a:prstGeom>
        </p:spPr>
        <p:txBody>
          <a:bodyPr anchor="t" rtlCol="false" tIns="0" lIns="0" bIns="0" rIns="0">
            <a:spAutoFit/>
          </a:bodyPr>
          <a:lstStyle/>
          <a:p>
            <a:pPr algn="ctr">
              <a:lnSpc>
                <a:spcPts val="5126"/>
              </a:lnSpc>
            </a:pPr>
            <a:r>
              <a:rPr lang="en-US" sz="3661" b="true">
                <a:solidFill>
                  <a:srgbClr val="000000"/>
                </a:solidFill>
                <a:latin typeface="Canva Sans Bold"/>
                <a:ea typeface="Canva Sans Bold"/>
                <a:cs typeface="Canva Sans Bold"/>
                <a:sym typeface="Canva Sans Bold"/>
              </a:rPr>
              <a:t>Exchange rate Bonferroni Test</a:t>
            </a:r>
          </a:p>
          <a:p>
            <a:pPr algn="ctr">
              <a:lnSpc>
                <a:spcPts val="5126"/>
              </a:lnSpc>
            </a:pPr>
          </a:p>
        </p:txBody>
      </p:sp>
      <p:sp>
        <p:nvSpPr>
          <p:cNvPr name="TextBox 7" id="7"/>
          <p:cNvSpPr txBox="true"/>
          <p:nvPr/>
        </p:nvSpPr>
        <p:spPr>
          <a:xfrm rot="0">
            <a:off x="1028700" y="7214473"/>
            <a:ext cx="16569769" cy="1773972"/>
          </a:xfrm>
          <a:prstGeom prst="rect">
            <a:avLst/>
          </a:prstGeom>
        </p:spPr>
        <p:txBody>
          <a:bodyPr anchor="t" rtlCol="false" tIns="0" lIns="0" bIns="0" rIns="0">
            <a:spAutoFit/>
          </a:bodyPr>
          <a:lstStyle/>
          <a:p>
            <a:pPr algn="ctr">
              <a:lnSpc>
                <a:spcPts val="2842"/>
              </a:lnSpc>
            </a:pPr>
            <a:r>
              <a:rPr lang="en-US" sz="2030">
                <a:solidFill>
                  <a:srgbClr val="000000"/>
                </a:solidFill>
                <a:latin typeface="Canva Sans"/>
                <a:ea typeface="Canva Sans"/>
                <a:cs typeface="Canva Sans"/>
                <a:sym typeface="Canva Sans"/>
              </a:rPr>
              <a:t>The Bonferroni test (α = 0.0167) shows that there is</a:t>
            </a:r>
            <a:r>
              <a:rPr lang="en-US" sz="2030">
                <a:solidFill>
                  <a:srgbClr val="000000"/>
                </a:solidFill>
                <a:latin typeface="Canva Sans"/>
                <a:ea typeface="Canva Sans"/>
                <a:cs typeface="Canva Sans"/>
                <a:sym typeface="Canva Sans"/>
              </a:rPr>
              <a:t> no significant difference between Phase 1 (1947–1990) and Phase 2 (1991–2000). </a:t>
            </a:r>
          </a:p>
          <a:p>
            <a:pPr algn="ctr">
              <a:lnSpc>
                <a:spcPts val="2842"/>
              </a:lnSpc>
            </a:pPr>
            <a:r>
              <a:rPr lang="en-US" sz="2030">
                <a:solidFill>
                  <a:srgbClr val="000000"/>
                </a:solidFill>
                <a:latin typeface="Canva Sans"/>
                <a:ea typeface="Canva Sans"/>
                <a:cs typeface="Canva Sans"/>
                <a:sym typeface="Canva Sans"/>
              </a:rPr>
              <a:t>However, significant differences are found between Phase 2 and Phase 3, and between Phase 1 and Phase 3.</a:t>
            </a:r>
          </a:p>
          <a:p>
            <a:pPr algn="ctr">
              <a:lnSpc>
                <a:spcPts val="2842"/>
              </a:lnSpc>
            </a:pPr>
            <a:r>
              <a:rPr lang="en-US" sz="2030">
                <a:solidFill>
                  <a:srgbClr val="000000"/>
                </a:solidFill>
                <a:latin typeface="Canva Sans"/>
                <a:ea typeface="Canva Sans"/>
                <a:cs typeface="Canva Sans"/>
                <a:sym typeface="Canva Sans"/>
              </a:rPr>
              <a:t> This indicates that the exchange rate behavior or volatility changed notably after 2000, suggesting a structural shift in the exchange rate system—possibly due to deeper market liberalization, global integration, or policy reforms in the 2000s.</a:t>
            </a:r>
          </a:p>
          <a:p>
            <a:pPr algn="ctr">
              <a:lnSpc>
                <a:spcPts val="2842"/>
              </a:lnSpc>
            </a:pP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Analysing  Different  Factors</a:t>
            </a:r>
          </a:p>
        </p:txBody>
      </p:sp>
      <p:grpSp>
        <p:nvGrpSpPr>
          <p:cNvPr name="Group 3" id="3"/>
          <p:cNvGrpSpPr/>
          <p:nvPr/>
        </p:nvGrpSpPr>
        <p:grpSpPr>
          <a:xfrm rot="0">
            <a:off x="2059303" y="3690080"/>
            <a:ext cx="4278019" cy="4520428"/>
            <a:chOff x="0" y="0"/>
            <a:chExt cx="921610" cy="973832"/>
          </a:xfrm>
        </p:grpSpPr>
        <p:sp>
          <p:nvSpPr>
            <p:cNvPr name="Freeform 4" id="4"/>
            <p:cNvSpPr/>
            <p:nvPr/>
          </p:nvSpPr>
          <p:spPr>
            <a:xfrm flipH="false" flipV="false" rot="0">
              <a:off x="0" y="0"/>
              <a:ext cx="921610" cy="973832"/>
            </a:xfrm>
            <a:custGeom>
              <a:avLst/>
              <a:gdLst/>
              <a:ahLst/>
              <a:cxnLst/>
              <a:rect r="r" b="b" t="t" l="l"/>
              <a:pathLst>
                <a:path h="973832" w="921610">
                  <a:moveTo>
                    <a:pt x="54291" y="0"/>
                  </a:moveTo>
                  <a:lnTo>
                    <a:pt x="867319" y="0"/>
                  </a:lnTo>
                  <a:cubicBezTo>
                    <a:pt x="881718" y="0"/>
                    <a:pt x="895527" y="5720"/>
                    <a:pt x="905708" y="15901"/>
                  </a:cubicBezTo>
                  <a:cubicBezTo>
                    <a:pt x="915890" y="26083"/>
                    <a:pt x="921610" y="39892"/>
                    <a:pt x="921610" y="54291"/>
                  </a:cubicBezTo>
                  <a:lnTo>
                    <a:pt x="921610" y="919541"/>
                  </a:lnTo>
                  <a:cubicBezTo>
                    <a:pt x="921610" y="949525"/>
                    <a:pt x="897303" y="973832"/>
                    <a:pt x="867319" y="973832"/>
                  </a:cubicBezTo>
                  <a:lnTo>
                    <a:pt x="54291" y="973832"/>
                  </a:lnTo>
                  <a:cubicBezTo>
                    <a:pt x="39892" y="973832"/>
                    <a:pt x="26083" y="968112"/>
                    <a:pt x="15901" y="957930"/>
                  </a:cubicBezTo>
                  <a:cubicBezTo>
                    <a:pt x="5720" y="947749"/>
                    <a:pt x="0" y="933940"/>
                    <a:pt x="0" y="919541"/>
                  </a:cubicBezTo>
                  <a:lnTo>
                    <a:pt x="0" y="54291"/>
                  </a:lnTo>
                  <a:cubicBezTo>
                    <a:pt x="0" y="39892"/>
                    <a:pt x="5720" y="26083"/>
                    <a:pt x="15901" y="15901"/>
                  </a:cubicBezTo>
                  <a:cubicBezTo>
                    <a:pt x="26083" y="5720"/>
                    <a:pt x="39892" y="0"/>
                    <a:pt x="54291" y="0"/>
                  </a:cubicBezTo>
                  <a:close/>
                </a:path>
              </a:pathLst>
            </a:custGeom>
            <a:solidFill>
              <a:srgbClr val="ECE1D7"/>
            </a:solidFill>
          </p:spPr>
        </p:sp>
        <p:sp>
          <p:nvSpPr>
            <p:cNvPr name="TextBox 5" id="5"/>
            <p:cNvSpPr txBox="true"/>
            <p:nvPr/>
          </p:nvSpPr>
          <p:spPr>
            <a:xfrm>
              <a:off x="0" y="-47625"/>
              <a:ext cx="921610" cy="1021457"/>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059303" y="2548935"/>
            <a:ext cx="4278019" cy="1469570"/>
            <a:chOff x="0" y="0"/>
            <a:chExt cx="921610" cy="316588"/>
          </a:xfrm>
        </p:grpSpPr>
        <p:sp>
          <p:nvSpPr>
            <p:cNvPr name="Freeform 7" id="7"/>
            <p:cNvSpPr/>
            <p:nvPr/>
          </p:nvSpPr>
          <p:spPr>
            <a:xfrm flipH="false" flipV="false" rot="0">
              <a:off x="0" y="0"/>
              <a:ext cx="921610" cy="316588"/>
            </a:xfrm>
            <a:custGeom>
              <a:avLst/>
              <a:gdLst/>
              <a:ahLst/>
              <a:cxnLst/>
              <a:rect r="r" b="b" t="t" l="l"/>
              <a:pathLst>
                <a:path h="316588" w="921610">
                  <a:moveTo>
                    <a:pt x="54291" y="0"/>
                  </a:moveTo>
                  <a:lnTo>
                    <a:pt x="867319" y="0"/>
                  </a:lnTo>
                  <a:cubicBezTo>
                    <a:pt x="881718" y="0"/>
                    <a:pt x="895527" y="5720"/>
                    <a:pt x="905708" y="15901"/>
                  </a:cubicBezTo>
                  <a:cubicBezTo>
                    <a:pt x="915890" y="26083"/>
                    <a:pt x="921610" y="39892"/>
                    <a:pt x="921610" y="54291"/>
                  </a:cubicBezTo>
                  <a:lnTo>
                    <a:pt x="921610" y="262297"/>
                  </a:lnTo>
                  <a:cubicBezTo>
                    <a:pt x="921610" y="292281"/>
                    <a:pt x="897303" y="316588"/>
                    <a:pt x="867319" y="316588"/>
                  </a:cubicBezTo>
                  <a:lnTo>
                    <a:pt x="54291" y="316588"/>
                  </a:lnTo>
                  <a:cubicBezTo>
                    <a:pt x="39892" y="316588"/>
                    <a:pt x="26083" y="310868"/>
                    <a:pt x="15901" y="300687"/>
                  </a:cubicBezTo>
                  <a:cubicBezTo>
                    <a:pt x="5720" y="290505"/>
                    <a:pt x="0" y="276696"/>
                    <a:pt x="0" y="262297"/>
                  </a:cubicBezTo>
                  <a:lnTo>
                    <a:pt x="0" y="54291"/>
                  </a:lnTo>
                  <a:cubicBezTo>
                    <a:pt x="0" y="39892"/>
                    <a:pt x="5720" y="26083"/>
                    <a:pt x="15901" y="15901"/>
                  </a:cubicBezTo>
                  <a:cubicBezTo>
                    <a:pt x="26083" y="5720"/>
                    <a:pt x="39892" y="0"/>
                    <a:pt x="54291" y="0"/>
                  </a:cubicBezTo>
                  <a:close/>
                </a:path>
              </a:pathLst>
            </a:custGeom>
            <a:solidFill>
              <a:srgbClr val="5B7ABE"/>
            </a:solidFill>
          </p:spPr>
        </p:sp>
        <p:sp>
          <p:nvSpPr>
            <p:cNvPr name="TextBox 8" id="8"/>
            <p:cNvSpPr txBox="true"/>
            <p:nvPr/>
          </p:nvSpPr>
          <p:spPr>
            <a:xfrm>
              <a:off x="0" y="-47625"/>
              <a:ext cx="921610" cy="364213"/>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2274192" y="4297635"/>
            <a:ext cx="3848241" cy="3580130"/>
          </a:xfrm>
          <a:prstGeom prst="rect">
            <a:avLst/>
          </a:prstGeom>
        </p:spPr>
        <p:txBody>
          <a:bodyPr anchor="t" rtlCol="false" tIns="0" lIns="0" bIns="0" rIns="0">
            <a:spAutoFit/>
          </a:bodyPr>
          <a:lstStyle/>
          <a:p>
            <a:pPr algn="ctr">
              <a:lnSpc>
                <a:spcPts val="3220"/>
              </a:lnSpc>
            </a:pPr>
            <a:r>
              <a:rPr lang="en-US" sz="2300">
                <a:solidFill>
                  <a:srgbClr val="000000"/>
                </a:solidFill>
                <a:latin typeface="Red Hat Display"/>
                <a:ea typeface="Red Hat Display"/>
                <a:cs typeface="Red Hat Display"/>
                <a:sym typeface="Red Hat Display"/>
              </a:rPr>
              <a:t>Higher inflation in India compared to other countries reduces the rupee's purchasing power, making exports less competitive. This decreases demand for the rupee. Central banks may also raise interest rates to combat inflation</a:t>
            </a:r>
          </a:p>
        </p:txBody>
      </p:sp>
      <p:grpSp>
        <p:nvGrpSpPr>
          <p:cNvPr name="Group 10" id="10"/>
          <p:cNvGrpSpPr/>
          <p:nvPr/>
        </p:nvGrpSpPr>
        <p:grpSpPr>
          <a:xfrm rot="0">
            <a:off x="6790641" y="3690080"/>
            <a:ext cx="4278019" cy="4520428"/>
            <a:chOff x="0" y="0"/>
            <a:chExt cx="921610" cy="973832"/>
          </a:xfrm>
        </p:grpSpPr>
        <p:sp>
          <p:nvSpPr>
            <p:cNvPr name="Freeform 11" id="11"/>
            <p:cNvSpPr/>
            <p:nvPr/>
          </p:nvSpPr>
          <p:spPr>
            <a:xfrm flipH="false" flipV="false" rot="0">
              <a:off x="0" y="0"/>
              <a:ext cx="921610" cy="973832"/>
            </a:xfrm>
            <a:custGeom>
              <a:avLst/>
              <a:gdLst/>
              <a:ahLst/>
              <a:cxnLst/>
              <a:rect r="r" b="b" t="t" l="l"/>
              <a:pathLst>
                <a:path h="973832" w="921610">
                  <a:moveTo>
                    <a:pt x="54291" y="0"/>
                  </a:moveTo>
                  <a:lnTo>
                    <a:pt x="867319" y="0"/>
                  </a:lnTo>
                  <a:cubicBezTo>
                    <a:pt x="881718" y="0"/>
                    <a:pt x="895527" y="5720"/>
                    <a:pt x="905708" y="15901"/>
                  </a:cubicBezTo>
                  <a:cubicBezTo>
                    <a:pt x="915890" y="26083"/>
                    <a:pt x="921610" y="39892"/>
                    <a:pt x="921610" y="54291"/>
                  </a:cubicBezTo>
                  <a:lnTo>
                    <a:pt x="921610" y="919541"/>
                  </a:lnTo>
                  <a:cubicBezTo>
                    <a:pt x="921610" y="949525"/>
                    <a:pt x="897303" y="973832"/>
                    <a:pt x="867319" y="973832"/>
                  </a:cubicBezTo>
                  <a:lnTo>
                    <a:pt x="54291" y="973832"/>
                  </a:lnTo>
                  <a:cubicBezTo>
                    <a:pt x="39892" y="973832"/>
                    <a:pt x="26083" y="968112"/>
                    <a:pt x="15901" y="957930"/>
                  </a:cubicBezTo>
                  <a:cubicBezTo>
                    <a:pt x="5720" y="947749"/>
                    <a:pt x="0" y="933940"/>
                    <a:pt x="0" y="919541"/>
                  </a:cubicBezTo>
                  <a:lnTo>
                    <a:pt x="0" y="54291"/>
                  </a:lnTo>
                  <a:cubicBezTo>
                    <a:pt x="0" y="39892"/>
                    <a:pt x="5720" y="26083"/>
                    <a:pt x="15901" y="15901"/>
                  </a:cubicBezTo>
                  <a:cubicBezTo>
                    <a:pt x="26083" y="5720"/>
                    <a:pt x="39892" y="0"/>
                    <a:pt x="54291" y="0"/>
                  </a:cubicBezTo>
                  <a:close/>
                </a:path>
              </a:pathLst>
            </a:custGeom>
            <a:solidFill>
              <a:srgbClr val="ECE1D7"/>
            </a:solidFill>
          </p:spPr>
        </p:sp>
        <p:sp>
          <p:nvSpPr>
            <p:cNvPr name="TextBox 12" id="12"/>
            <p:cNvSpPr txBox="true"/>
            <p:nvPr/>
          </p:nvSpPr>
          <p:spPr>
            <a:xfrm>
              <a:off x="0" y="-47625"/>
              <a:ext cx="921610" cy="1021457"/>
            </a:xfrm>
            <a:prstGeom prst="rect">
              <a:avLst/>
            </a:prstGeom>
          </p:spPr>
          <p:txBody>
            <a:bodyPr anchor="ctr" rtlCol="false" tIns="50800" lIns="50800" bIns="50800" rIns="50800"/>
            <a:lstStyle/>
            <a:p>
              <a:pPr algn="ctr">
                <a:lnSpc>
                  <a:spcPts val="3032"/>
                </a:lnSpc>
              </a:pPr>
            </a:p>
          </p:txBody>
        </p:sp>
      </p:grpSp>
      <p:grpSp>
        <p:nvGrpSpPr>
          <p:cNvPr name="Group 13" id="13"/>
          <p:cNvGrpSpPr/>
          <p:nvPr/>
        </p:nvGrpSpPr>
        <p:grpSpPr>
          <a:xfrm rot="0">
            <a:off x="6790641" y="2548935"/>
            <a:ext cx="4278019" cy="1469570"/>
            <a:chOff x="0" y="0"/>
            <a:chExt cx="921610" cy="316588"/>
          </a:xfrm>
        </p:grpSpPr>
        <p:sp>
          <p:nvSpPr>
            <p:cNvPr name="Freeform 14" id="14"/>
            <p:cNvSpPr/>
            <p:nvPr/>
          </p:nvSpPr>
          <p:spPr>
            <a:xfrm flipH="false" flipV="false" rot="0">
              <a:off x="0" y="0"/>
              <a:ext cx="921610" cy="316588"/>
            </a:xfrm>
            <a:custGeom>
              <a:avLst/>
              <a:gdLst/>
              <a:ahLst/>
              <a:cxnLst/>
              <a:rect r="r" b="b" t="t" l="l"/>
              <a:pathLst>
                <a:path h="316588" w="921610">
                  <a:moveTo>
                    <a:pt x="54291" y="0"/>
                  </a:moveTo>
                  <a:lnTo>
                    <a:pt x="867319" y="0"/>
                  </a:lnTo>
                  <a:cubicBezTo>
                    <a:pt x="881718" y="0"/>
                    <a:pt x="895527" y="5720"/>
                    <a:pt x="905708" y="15901"/>
                  </a:cubicBezTo>
                  <a:cubicBezTo>
                    <a:pt x="915890" y="26083"/>
                    <a:pt x="921610" y="39892"/>
                    <a:pt x="921610" y="54291"/>
                  </a:cubicBezTo>
                  <a:lnTo>
                    <a:pt x="921610" y="262297"/>
                  </a:lnTo>
                  <a:cubicBezTo>
                    <a:pt x="921610" y="292281"/>
                    <a:pt x="897303" y="316588"/>
                    <a:pt x="867319" y="316588"/>
                  </a:cubicBezTo>
                  <a:lnTo>
                    <a:pt x="54291" y="316588"/>
                  </a:lnTo>
                  <a:cubicBezTo>
                    <a:pt x="39892" y="316588"/>
                    <a:pt x="26083" y="310868"/>
                    <a:pt x="15901" y="300687"/>
                  </a:cubicBezTo>
                  <a:cubicBezTo>
                    <a:pt x="5720" y="290505"/>
                    <a:pt x="0" y="276696"/>
                    <a:pt x="0" y="262297"/>
                  </a:cubicBezTo>
                  <a:lnTo>
                    <a:pt x="0" y="54291"/>
                  </a:lnTo>
                  <a:cubicBezTo>
                    <a:pt x="0" y="39892"/>
                    <a:pt x="5720" y="26083"/>
                    <a:pt x="15901" y="15901"/>
                  </a:cubicBezTo>
                  <a:cubicBezTo>
                    <a:pt x="26083" y="5720"/>
                    <a:pt x="39892" y="0"/>
                    <a:pt x="54291" y="0"/>
                  </a:cubicBezTo>
                  <a:close/>
                </a:path>
              </a:pathLst>
            </a:custGeom>
            <a:solidFill>
              <a:srgbClr val="5B7ABE"/>
            </a:solidFill>
          </p:spPr>
        </p:sp>
        <p:sp>
          <p:nvSpPr>
            <p:cNvPr name="TextBox 15" id="15"/>
            <p:cNvSpPr txBox="true"/>
            <p:nvPr/>
          </p:nvSpPr>
          <p:spPr>
            <a:xfrm>
              <a:off x="0" y="-47625"/>
              <a:ext cx="921610" cy="364213"/>
            </a:xfrm>
            <a:prstGeom prst="rect">
              <a:avLst/>
            </a:prstGeom>
          </p:spPr>
          <p:txBody>
            <a:bodyPr anchor="ctr" rtlCol="false" tIns="50800" lIns="50800" bIns="50800" rIns="50800"/>
            <a:lstStyle/>
            <a:p>
              <a:pPr algn="ctr">
                <a:lnSpc>
                  <a:spcPts val="3032"/>
                </a:lnSpc>
              </a:pPr>
            </a:p>
          </p:txBody>
        </p:sp>
      </p:grpSp>
      <p:sp>
        <p:nvSpPr>
          <p:cNvPr name="TextBox 16" id="16"/>
          <p:cNvSpPr txBox="true"/>
          <p:nvPr/>
        </p:nvSpPr>
        <p:spPr>
          <a:xfrm rot="0">
            <a:off x="7258213" y="2839281"/>
            <a:ext cx="3342874" cy="917453"/>
          </a:xfrm>
          <a:prstGeom prst="rect">
            <a:avLst/>
          </a:prstGeom>
        </p:spPr>
        <p:txBody>
          <a:bodyPr anchor="t" rtlCol="false" tIns="0" lIns="0" bIns="0" rIns="0">
            <a:spAutoFit/>
          </a:bodyPr>
          <a:lstStyle/>
          <a:p>
            <a:pPr algn="ctr">
              <a:lnSpc>
                <a:spcPts val="3663"/>
              </a:lnSpc>
            </a:pPr>
            <a:r>
              <a:rPr lang="en-US" b="true" sz="3300">
                <a:solidFill>
                  <a:srgbClr val="FBFCFE"/>
                </a:solidFill>
                <a:latin typeface="Red Hat Display Bold"/>
                <a:ea typeface="Red Hat Display Bold"/>
                <a:cs typeface="Red Hat Display Bold"/>
                <a:sym typeface="Red Hat Display Bold"/>
              </a:rPr>
              <a:t>GDP Growth Rate of India</a:t>
            </a:r>
          </a:p>
        </p:txBody>
      </p:sp>
      <p:sp>
        <p:nvSpPr>
          <p:cNvPr name="TextBox 17" id="17"/>
          <p:cNvSpPr txBox="true"/>
          <p:nvPr/>
        </p:nvSpPr>
        <p:spPr>
          <a:xfrm rot="0">
            <a:off x="7124326" y="4297635"/>
            <a:ext cx="3610648" cy="3180065"/>
          </a:xfrm>
          <a:prstGeom prst="rect">
            <a:avLst/>
          </a:prstGeom>
        </p:spPr>
        <p:txBody>
          <a:bodyPr anchor="t" rtlCol="false" tIns="0" lIns="0" bIns="0" rIns="0">
            <a:spAutoFit/>
          </a:bodyPr>
          <a:lstStyle/>
          <a:p>
            <a:pPr algn="ctr">
              <a:lnSpc>
                <a:spcPts val="3220"/>
              </a:lnSpc>
            </a:pPr>
            <a:r>
              <a:rPr lang="en-US" sz="2300">
                <a:solidFill>
                  <a:srgbClr val="000000"/>
                </a:solidFill>
                <a:latin typeface="Red Hat Display"/>
                <a:ea typeface="Red Hat Display"/>
                <a:cs typeface="Red Hat Display"/>
                <a:sym typeface="Red Hat Display"/>
              </a:rPr>
              <a:t>When a country’s GDP growth rate increases, its economy becomes stronger and attracts more foreign investment. This raises the demand for its currency, so the exchange rate improves.</a:t>
            </a:r>
          </a:p>
        </p:txBody>
      </p:sp>
      <p:grpSp>
        <p:nvGrpSpPr>
          <p:cNvPr name="Group 18" id="18"/>
          <p:cNvGrpSpPr/>
          <p:nvPr/>
        </p:nvGrpSpPr>
        <p:grpSpPr>
          <a:xfrm rot="0">
            <a:off x="11521979" y="3690080"/>
            <a:ext cx="4278019" cy="4520428"/>
            <a:chOff x="0" y="0"/>
            <a:chExt cx="921610" cy="973832"/>
          </a:xfrm>
        </p:grpSpPr>
        <p:sp>
          <p:nvSpPr>
            <p:cNvPr name="Freeform 19" id="19"/>
            <p:cNvSpPr/>
            <p:nvPr/>
          </p:nvSpPr>
          <p:spPr>
            <a:xfrm flipH="false" flipV="false" rot="0">
              <a:off x="0" y="0"/>
              <a:ext cx="921610" cy="973832"/>
            </a:xfrm>
            <a:custGeom>
              <a:avLst/>
              <a:gdLst/>
              <a:ahLst/>
              <a:cxnLst/>
              <a:rect r="r" b="b" t="t" l="l"/>
              <a:pathLst>
                <a:path h="973832" w="921610">
                  <a:moveTo>
                    <a:pt x="54291" y="0"/>
                  </a:moveTo>
                  <a:lnTo>
                    <a:pt x="867319" y="0"/>
                  </a:lnTo>
                  <a:cubicBezTo>
                    <a:pt x="881718" y="0"/>
                    <a:pt x="895527" y="5720"/>
                    <a:pt x="905708" y="15901"/>
                  </a:cubicBezTo>
                  <a:cubicBezTo>
                    <a:pt x="915890" y="26083"/>
                    <a:pt x="921610" y="39892"/>
                    <a:pt x="921610" y="54291"/>
                  </a:cubicBezTo>
                  <a:lnTo>
                    <a:pt x="921610" y="919541"/>
                  </a:lnTo>
                  <a:cubicBezTo>
                    <a:pt x="921610" y="949525"/>
                    <a:pt x="897303" y="973832"/>
                    <a:pt x="867319" y="973832"/>
                  </a:cubicBezTo>
                  <a:lnTo>
                    <a:pt x="54291" y="973832"/>
                  </a:lnTo>
                  <a:cubicBezTo>
                    <a:pt x="39892" y="973832"/>
                    <a:pt x="26083" y="968112"/>
                    <a:pt x="15901" y="957930"/>
                  </a:cubicBezTo>
                  <a:cubicBezTo>
                    <a:pt x="5720" y="947749"/>
                    <a:pt x="0" y="933940"/>
                    <a:pt x="0" y="919541"/>
                  </a:cubicBezTo>
                  <a:lnTo>
                    <a:pt x="0" y="54291"/>
                  </a:lnTo>
                  <a:cubicBezTo>
                    <a:pt x="0" y="39892"/>
                    <a:pt x="5720" y="26083"/>
                    <a:pt x="15901" y="15901"/>
                  </a:cubicBezTo>
                  <a:cubicBezTo>
                    <a:pt x="26083" y="5720"/>
                    <a:pt x="39892" y="0"/>
                    <a:pt x="54291" y="0"/>
                  </a:cubicBezTo>
                  <a:close/>
                </a:path>
              </a:pathLst>
            </a:custGeom>
            <a:solidFill>
              <a:srgbClr val="ECE1D7"/>
            </a:solidFill>
          </p:spPr>
        </p:sp>
        <p:sp>
          <p:nvSpPr>
            <p:cNvPr name="TextBox 20" id="20"/>
            <p:cNvSpPr txBox="true"/>
            <p:nvPr/>
          </p:nvSpPr>
          <p:spPr>
            <a:xfrm>
              <a:off x="0" y="-47625"/>
              <a:ext cx="921610" cy="1021457"/>
            </a:xfrm>
            <a:prstGeom prst="rect">
              <a:avLst/>
            </a:prstGeom>
          </p:spPr>
          <p:txBody>
            <a:bodyPr anchor="ctr" rtlCol="false" tIns="50800" lIns="50800" bIns="50800" rIns="50800"/>
            <a:lstStyle/>
            <a:p>
              <a:pPr algn="ctr">
                <a:lnSpc>
                  <a:spcPts val="3032"/>
                </a:lnSpc>
              </a:pPr>
            </a:p>
          </p:txBody>
        </p:sp>
      </p:grpSp>
      <p:grpSp>
        <p:nvGrpSpPr>
          <p:cNvPr name="Group 21" id="21"/>
          <p:cNvGrpSpPr/>
          <p:nvPr/>
        </p:nvGrpSpPr>
        <p:grpSpPr>
          <a:xfrm rot="0">
            <a:off x="11521979" y="2548935"/>
            <a:ext cx="4278019" cy="1469570"/>
            <a:chOff x="0" y="0"/>
            <a:chExt cx="921610" cy="316588"/>
          </a:xfrm>
        </p:grpSpPr>
        <p:sp>
          <p:nvSpPr>
            <p:cNvPr name="Freeform 22" id="22"/>
            <p:cNvSpPr/>
            <p:nvPr/>
          </p:nvSpPr>
          <p:spPr>
            <a:xfrm flipH="false" flipV="false" rot="0">
              <a:off x="0" y="0"/>
              <a:ext cx="921610" cy="316588"/>
            </a:xfrm>
            <a:custGeom>
              <a:avLst/>
              <a:gdLst/>
              <a:ahLst/>
              <a:cxnLst/>
              <a:rect r="r" b="b" t="t" l="l"/>
              <a:pathLst>
                <a:path h="316588" w="921610">
                  <a:moveTo>
                    <a:pt x="54291" y="0"/>
                  </a:moveTo>
                  <a:lnTo>
                    <a:pt x="867319" y="0"/>
                  </a:lnTo>
                  <a:cubicBezTo>
                    <a:pt x="881718" y="0"/>
                    <a:pt x="895527" y="5720"/>
                    <a:pt x="905708" y="15901"/>
                  </a:cubicBezTo>
                  <a:cubicBezTo>
                    <a:pt x="915890" y="26083"/>
                    <a:pt x="921610" y="39892"/>
                    <a:pt x="921610" y="54291"/>
                  </a:cubicBezTo>
                  <a:lnTo>
                    <a:pt x="921610" y="262297"/>
                  </a:lnTo>
                  <a:cubicBezTo>
                    <a:pt x="921610" y="292281"/>
                    <a:pt x="897303" y="316588"/>
                    <a:pt x="867319" y="316588"/>
                  </a:cubicBezTo>
                  <a:lnTo>
                    <a:pt x="54291" y="316588"/>
                  </a:lnTo>
                  <a:cubicBezTo>
                    <a:pt x="39892" y="316588"/>
                    <a:pt x="26083" y="310868"/>
                    <a:pt x="15901" y="300687"/>
                  </a:cubicBezTo>
                  <a:cubicBezTo>
                    <a:pt x="5720" y="290505"/>
                    <a:pt x="0" y="276696"/>
                    <a:pt x="0" y="262297"/>
                  </a:cubicBezTo>
                  <a:lnTo>
                    <a:pt x="0" y="54291"/>
                  </a:lnTo>
                  <a:cubicBezTo>
                    <a:pt x="0" y="39892"/>
                    <a:pt x="5720" y="26083"/>
                    <a:pt x="15901" y="15901"/>
                  </a:cubicBezTo>
                  <a:cubicBezTo>
                    <a:pt x="26083" y="5720"/>
                    <a:pt x="39892" y="0"/>
                    <a:pt x="54291" y="0"/>
                  </a:cubicBezTo>
                  <a:close/>
                </a:path>
              </a:pathLst>
            </a:custGeom>
            <a:solidFill>
              <a:srgbClr val="5B7ABE"/>
            </a:solidFill>
          </p:spPr>
        </p:sp>
        <p:sp>
          <p:nvSpPr>
            <p:cNvPr name="TextBox 23" id="23"/>
            <p:cNvSpPr txBox="true"/>
            <p:nvPr/>
          </p:nvSpPr>
          <p:spPr>
            <a:xfrm>
              <a:off x="0" y="-47625"/>
              <a:ext cx="921610" cy="364213"/>
            </a:xfrm>
            <a:prstGeom prst="rect">
              <a:avLst/>
            </a:prstGeom>
          </p:spPr>
          <p:txBody>
            <a:bodyPr anchor="ctr" rtlCol="false" tIns="50800" lIns="50800" bIns="50800" rIns="50800"/>
            <a:lstStyle/>
            <a:p>
              <a:pPr algn="ctr">
                <a:lnSpc>
                  <a:spcPts val="3032"/>
                </a:lnSpc>
              </a:pPr>
            </a:p>
          </p:txBody>
        </p:sp>
      </p:grpSp>
      <p:sp>
        <p:nvSpPr>
          <p:cNvPr name="TextBox 24" id="24"/>
          <p:cNvSpPr txBox="true"/>
          <p:nvPr/>
        </p:nvSpPr>
        <p:spPr>
          <a:xfrm rot="0">
            <a:off x="11536232" y="2937692"/>
            <a:ext cx="4263765" cy="565075"/>
          </a:xfrm>
          <a:prstGeom prst="rect">
            <a:avLst/>
          </a:prstGeom>
        </p:spPr>
        <p:txBody>
          <a:bodyPr anchor="t" rtlCol="false" tIns="0" lIns="0" bIns="0" rIns="0">
            <a:spAutoFit/>
          </a:bodyPr>
          <a:lstStyle/>
          <a:p>
            <a:pPr algn="ctr">
              <a:lnSpc>
                <a:spcPts val="4621"/>
              </a:lnSpc>
            </a:pPr>
            <a:r>
              <a:rPr lang="en-US" b="true" sz="3300">
                <a:solidFill>
                  <a:srgbClr val="FBFCFE"/>
                </a:solidFill>
                <a:latin typeface="Red Hat Display Bold"/>
                <a:ea typeface="Red Hat Display Bold"/>
                <a:cs typeface="Red Hat Display Bold"/>
                <a:sym typeface="Red Hat Display Bold"/>
              </a:rPr>
              <a:t>Trade Deficit</a:t>
            </a:r>
          </a:p>
        </p:txBody>
      </p:sp>
      <p:sp>
        <p:nvSpPr>
          <p:cNvPr name="TextBox 25" id="25"/>
          <p:cNvSpPr txBox="true"/>
          <p:nvPr/>
        </p:nvSpPr>
        <p:spPr>
          <a:xfrm rot="0">
            <a:off x="11878546" y="4297635"/>
            <a:ext cx="3564884" cy="2333610"/>
          </a:xfrm>
          <a:prstGeom prst="rect">
            <a:avLst/>
          </a:prstGeom>
        </p:spPr>
        <p:txBody>
          <a:bodyPr anchor="t" rtlCol="false" tIns="0" lIns="0" bIns="0" rIns="0">
            <a:spAutoFit/>
          </a:bodyPr>
          <a:lstStyle/>
          <a:p>
            <a:pPr algn="ctr">
              <a:lnSpc>
                <a:spcPts val="3080"/>
              </a:lnSpc>
            </a:pPr>
            <a:r>
              <a:rPr lang="en-US" sz="2200">
                <a:solidFill>
                  <a:srgbClr val="000000"/>
                </a:solidFill>
                <a:latin typeface="Red Hat Display"/>
                <a:ea typeface="Red Hat Display"/>
                <a:cs typeface="Red Hat Display"/>
                <a:sym typeface="Red Hat Display"/>
              </a:rPr>
              <a:t>A trade deficit happens when a country buys more stuff from other countries (imports) than it sells to them (exports).</a:t>
            </a:r>
          </a:p>
          <a:p>
            <a:pPr algn="ctr">
              <a:lnSpc>
                <a:spcPts val="3220"/>
              </a:lnSpc>
            </a:pPr>
          </a:p>
        </p:txBody>
      </p:sp>
      <p:grpSp>
        <p:nvGrpSpPr>
          <p:cNvPr name="Group 26" id="26"/>
          <p:cNvGrpSpPr/>
          <p:nvPr/>
        </p:nvGrpSpPr>
        <p:grpSpPr>
          <a:xfrm rot="5382001">
            <a:off x="15015989" y="4542477"/>
            <a:ext cx="4642199" cy="1202046"/>
            <a:chOff x="0" y="0"/>
            <a:chExt cx="1222637" cy="316588"/>
          </a:xfrm>
        </p:grpSpPr>
        <p:sp>
          <p:nvSpPr>
            <p:cNvPr name="Freeform 27" id="27"/>
            <p:cNvSpPr/>
            <p:nvPr/>
          </p:nvSpPr>
          <p:spPr>
            <a:xfrm flipH="false" flipV="false" rot="0">
              <a:off x="0" y="0"/>
              <a:ext cx="1222637" cy="316588"/>
            </a:xfrm>
            <a:custGeom>
              <a:avLst/>
              <a:gdLst/>
              <a:ahLst/>
              <a:cxnLst/>
              <a:rect r="r" b="b" t="t" l="l"/>
              <a:pathLst>
                <a:path h="316588" w="1222637">
                  <a:moveTo>
                    <a:pt x="50032" y="0"/>
                  </a:moveTo>
                  <a:lnTo>
                    <a:pt x="1172605" y="0"/>
                  </a:lnTo>
                  <a:cubicBezTo>
                    <a:pt x="1185874" y="0"/>
                    <a:pt x="1198600" y="5271"/>
                    <a:pt x="1207983" y="14654"/>
                  </a:cubicBezTo>
                  <a:cubicBezTo>
                    <a:pt x="1217366" y="24037"/>
                    <a:pt x="1222637" y="36763"/>
                    <a:pt x="1222637" y="50032"/>
                  </a:cubicBezTo>
                  <a:lnTo>
                    <a:pt x="1222637" y="266556"/>
                  </a:lnTo>
                  <a:cubicBezTo>
                    <a:pt x="1222637" y="279826"/>
                    <a:pt x="1217366" y="292552"/>
                    <a:pt x="1207983" y="301934"/>
                  </a:cubicBezTo>
                  <a:cubicBezTo>
                    <a:pt x="1198600" y="311317"/>
                    <a:pt x="1185874" y="316588"/>
                    <a:pt x="1172605" y="316588"/>
                  </a:cubicBezTo>
                  <a:lnTo>
                    <a:pt x="50032" y="316588"/>
                  </a:lnTo>
                  <a:cubicBezTo>
                    <a:pt x="36763" y="316588"/>
                    <a:pt x="24037" y="311317"/>
                    <a:pt x="14654" y="301934"/>
                  </a:cubicBezTo>
                  <a:cubicBezTo>
                    <a:pt x="5271" y="292552"/>
                    <a:pt x="0" y="279826"/>
                    <a:pt x="0" y="266556"/>
                  </a:cubicBezTo>
                  <a:lnTo>
                    <a:pt x="0" y="50032"/>
                  </a:lnTo>
                  <a:cubicBezTo>
                    <a:pt x="0" y="36763"/>
                    <a:pt x="5271" y="24037"/>
                    <a:pt x="14654" y="14654"/>
                  </a:cubicBezTo>
                  <a:cubicBezTo>
                    <a:pt x="24037" y="5271"/>
                    <a:pt x="36763" y="0"/>
                    <a:pt x="50032" y="0"/>
                  </a:cubicBezTo>
                  <a:close/>
                </a:path>
              </a:pathLst>
            </a:custGeom>
            <a:solidFill>
              <a:srgbClr val="5B7ABE"/>
            </a:solidFill>
          </p:spPr>
        </p:sp>
        <p:sp>
          <p:nvSpPr>
            <p:cNvPr name="TextBox 28" id="28"/>
            <p:cNvSpPr txBox="true"/>
            <p:nvPr/>
          </p:nvSpPr>
          <p:spPr>
            <a:xfrm>
              <a:off x="0" y="-47625"/>
              <a:ext cx="1222637" cy="364213"/>
            </a:xfrm>
            <a:prstGeom prst="rect">
              <a:avLst/>
            </a:prstGeom>
          </p:spPr>
          <p:txBody>
            <a:bodyPr anchor="ctr" rtlCol="false" tIns="50800" lIns="50800" bIns="50800" rIns="50800"/>
            <a:lstStyle/>
            <a:p>
              <a:pPr algn="ctr">
                <a:lnSpc>
                  <a:spcPts val="3032"/>
                </a:lnSpc>
              </a:pPr>
            </a:p>
          </p:txBody>
        </p:sp>
      </p:grpSp>
      <p:sp>
        <p:nvSpPr>
          <p:cNvPr name="TextBox 29" id="29"/>
          <p:cNvSpPr txBox="true"/>
          <p:nvPr/>
        </p:nvSpPr>
        <p:spPr>
          <a:xfrm rot="5382001">
            <a:off x="15806140" y="4935815"/>
            <a:ext cx="3109522" cy="511234"/>
          </a:xfrm>
          <a:prstGeom prst="rect">
            <a:avLst/>
          </a:prstGeom>
        </p:spPr>
        <p:txBody>
          <a:bodyPr anchor="t" rtlCol="false" tIns="0" lIns="0" bIns="0" rIns="0">
            <a:spAutoFit/>
          </a:bodyPr>
          <a:lstStyle/>
          <a:p>
            <a:pPr algn="ctr">
              <a:lnSpc>
                <a:spcPts val="4298"/>
              </a:lnSpc>
            </a:pPr>
            <a:r>
              <a:rPr lang="en-US" b="true" sz="3070">
                <a:solidFill>
                  <a:srgbClr val="FBFCFE"/>
                </a:solidFill>
                <a:latin typeface="Red Hat Display Bold"/>
                <a:ea typeface="Red Hat Display Bold"/>
                <a:cs typeface="Red Hat Display Bold"/>
                <a:sym typeface="Red Hat Display Bold"/>
              </a:rPr>
              <a:t>Exchange Rate </a:t>
            </a:r>
          </a:p>
        </p:txBody>
      </p:sp>
      <p:sp>
        <p:nvSpPr>
          <p:cNvPr name="Freeform 30" id="30"/>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32" id="32"/>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4" id="34"/>
          <p:cNvSpPr txBox="true"/>
          <p:nvPr/>
        </p:nvSpPr>
        <p:spPr>
          <a:xfrm rot="0">
            <a:off x="2516178" y="2899175"/>
            <a:ext cx="3342874" cy="565075"/>
          </a:xfrm>
          <a:prstGeom prst="rect">
            <a:avLst/>
          </a:prstGeom>
        </p:spPr>
        <p:txBody>
          <a:bodyPr anchor="t" rtlCol="false" tIns="0" lIns="0" bIns="0" rIns="0">
            <a:spAutoFit/>
          </a:bodyPr>
          <a:lstStyle/>
          <a:p>
            <a:pPr algn="ctr">
              <a:lnSpc>
                <a:spcPts val="4621"/>
              </a:lnSpc>
            </a:pPr>
            <a:r>
              <a:rPr lang="en-US" b="true" sz="3300">
                <a:solidFill>
                  <a:srgbClr val="FBFCFE"/>
                </a:solidFill>
                <a:latin typeface="Red Hat Display Bold"/>
                <a:ea typeface="Red Hat Display Bold"/>
                <a:cs typeface="Red Hat Display Bold"/>
                <a:sym typeface="Red Hat Display Bold"/>
              </a:rPr>
              <a:t>Inflation Rate</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8769676" y="-4000028"/>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624874">
            <a:off x="-1345023" y="93731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870264" y="-1577160"/>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49062" y="2671179"/>
            <a:ext cx="11301259" cy="4449871"/>
          </a:xfrm>
          <a:custGeom>
            <a:avLst/>
            <a:gdLst/>
            <a:ahLst/>
            <a:cxnLst/>
            <a:rect r="r" b="b" t="t" l="l"/>
            <a:pathLst>
              <a:path h="4449871" w="11301259">
                <a:moveTo>
                  <a:pt x="0" y="0"/>
                </a:moveTo>
                <a:lnTo>
                  <a:pt x="11301259" y="0"/>
                </a:lnTo>
                <a:lnTo>
                  <a:pt x="11301259" y="4449871"/>
                </a:lnTo>
                <a:lnTo>
                  <a:pt x="0" y="4449871"/>
                </a:lnTo>
                <a:lnTo>
                  <a:pt x="0" y="0"/>
                </a:lnTo>
                <a:close/>
              </a:path>
            </a:pathLst>
          </a:custGeom>
          <a:blipFill>
            <a:blip r:embed="rId8"/>
            <a:stretch>
              <a:fillRect l="0" t="0" r="0" b="0"/>
            </a:stretch>
          </a:blipFill>
        </p:spPr>
      </p:sp>
      <p:sp>
        <p:nvSpPr>
          <p:cNvPr name="Freeform 6" id="6"/>
          <p:cNvSpPr/>
          <p:nvPr/>
        </p:nvSpPr>
        <p:spPr>
          <a:xfrm flipH="false" flipV="false" rot="-2700000">
            <a:off x="6804105" y="2019632"/>
            <a:ext cx="957118" cy="3899369"/>
          </a:xfrm>
          <a:custGeom>
            <a:avLst/>
            <a:gdLst/>
            <a:ahLst/>
            <a:cxnLst/>
            <a:rect r="r" b="b" t="t" l="l"/>
            <a:pathLst>
              <a:path h="3899369" w="957118">
                <a:moveTo>
                  <a:pt x="0" y="0"/>
                </a:moveTo>
                <a:lnTo>
                  <a:pt x="957118" y="0"/>
                </a:lnTo>
                <a:lnTo>
                  <a:pt x="957118" y="3899369"/>
                </a:lnTo>
                <a:lnTo>
                  <a:pt x="0" y="38993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856586" y="1396854"/>
            <a:ext cx="3965370" cy="1521711"/>
          </a:xfrm>
          <a:custGeom>
            <a:avLst/>
            <a:gdLst/>
            <a:ahLst/>
            <a:cxnLst/>
            <a:rect r="r" b="b" t="t" l="l"/>
            <a:pathLst>
              <a:path h="1521711" w="3965370">
                <a:moveTo>
                  <a:pt x="0" y="0"/>
                </a:moveTo>
                <a:lnTo>
                  <a:pt x="3965371" y="0"/>
                </a:lnTo>
                <a:lnTo>
                  <a:pt x="3965371" y="1521711"/>
                </a:lnTo>
                <a:lnTo>
                  <a:pt x="0" y="15217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8852848" y="4774381"/>
            <a:ext cx="1263249" cy="622150"/>
          </a:xfrm>
          <a:custGeom>
            <a:avLst/>
            <a:gdLst/>
            <a:ahLst/>
            <a:cxnLst/>
            <a:rect r="r" b="b" t="t" l="l"/>
            <a:pathLst>
              <a:path h="622150" w="1263249">
                <a:moveTo>
                  <a:pt x="0" y="0"/>
                </a:moveTo>
                <a:lnTo>
                  <a:pt x="1263249" y="0"/>
                </a:lnTo>
                <a:lnTo>
                  <a:pt x="1263249" y="622150"/>
                </a:lnTo>
                <a:lnTo>
                  <a:pt x="0" y="6221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9" id="9"/>
          <p:cNvSpPr txBox="true"/>
          <p:nvPr/>
        </p:nvSpPr>
        <p:spPr>
          <a:xfrm rot="0">
            <a:off x="3768227" y="336361"/>
            <a:ext cx="10751545" cy="1270240"/>
          </a:xfrm>
          <a:prstGeom prst="rect">
            <a:avLst/>
          </a:prstGeom>
        </p:spPr>
        <p:txBody>
          <a:bodyPr anchor="t" rtlCol="false" tIns="0" lIns="0" bIns="0" rIns="0">
            <a:spAutoFit/>
          </a:bodyPr>
          <a:lstStyle/>
          <a:p>
            <a:pPr algn="ctr">
              <a:lnSpc>
                <a:spcPts val="5126"/>
              </a:lnSpc>
            </a:pPr>
            <a:r>
              <a:rPr lang="en-US" sz="3661" b="true">
                <a:solidFill>
                  <a:srgbClr val="000000"/>
                </a:solidFill>
                <a:latin typeface="Canva Sans Bold"/>
                <a:ea typeface="Canva Sans Bold"/>
                <a:cs typeface="Canva Sans Bold"/>
                <a:sym typeface="Canva Sans Bold"/>
              </a:rPr>
              <a:t>STATISTICS and Analysis</a:t>
            </a:r>
          </a:p>
          <a:p>
            <a:pPr algn="ctr">
              <a:lnSpc>
                <a:spcPts val="5126"/>
              </a:lnSpc>
            </a:pPr>
          </a:p>
        </p:txBody>
      </p:sp>
      <p:sp>
        <p:nvSpPr>
          <p:cNvPr name="TextBox 10" id="10"/>
          <p:cNvSpPr txBox="true"/>
          <p:nvPr/>
        </p:nvSpPr>
        <p:spPr>
          <a:xfrm rot="0">
            <a:off x="1942319" y="1998109"/>
            <a:ext cx="3793904" cy="776736"/>
          </a:xfrm>
          <a:prstGeom prst="rect">
            <a:avLst/>
          </a:prstGeom>
        </p:spPr>
        <p:txBody>
          <a:bodyPr anchor="t" rtlCol="false" tIns="0" lIns="0" bIns="0" rIns="0">
            <a:spAutoFit/>
          </a:bodyPr>
          <a:lstStyle/>
          <a:p>
            <a:pPr algn="l" marL="477504" indent="-238752" lvl="1">
              <a:lnSpc>
                <a:spcPts val="3096"/>
              </a:lnSpc>
              <a:buFont typeface="Arial"/>
              <a:buChar char="•"/>
            </a:pPr>
            <a:r>
              <a:rPr lang="en-US" b="true" sz="2211">
                <a:solidFill>
                  <a:srgbClr val="000000"/>
                </a:solidFill>
                <a:latin typeface="DM Sans Bold"/>
                <a:ea typeface="DM Sans Bold"/>
                <a:cs typeface="DM Sans Bold"/>
                <a:sym typeface="DM Sans Bold"/>
              </a:rPr>
              <a:t>Global Oil Crisis in 1973</a:t>
            </a:r>
          </a:p>
          <a:p>
            <a:pPr algn="l" marL="477504" indent="-238752" lvl="1">
              <a:lnSpc>
                <a:spcPts val="3096"/>
              </a:lnSpc>
              <a:buFont typeface="Arial"/>
              <a:buChar char="•"/>
            </a:pPr>
            <a:r>
              <a:rPr lang="en-US" b="true" sz="2211">
                <a:solidFill>
                  <a:srgbClr val="000000"/>
                </a:solidFill>
                <a:latin typeface="DM Sans Bold"/>
                <a:ea typeface="DM Sans Bold"/>
                <a:cs typeface="DM Sans Bold"/>
                <a:sym typeface="DM Sans Bold"/>
              </a:rPr>
              <a:t>Agriculture Shortage</a:t>
            </a:r>
          </a:p>
        </p:txBody>
      </p:sp>
      <p:sp>
        <p:nvSpPr>
          <p:cNvPr name="TextBox 11" id="11"/>
          <p:cNvSpPr txBox="true"/>
          <p:nvPr/>
        </p:nvSpPr>
        <p:spPr>
          <a:xfrm rot="0">
            <a:off x="3281552" y="1320654"/>
            <a:ext cx="1115438" cy="675547"/>
          </a:xfrm>
          <a:prstGeom prst="rect">
            <a:avLst/>
          </a:prstGeom>
        </p:spPr>
        <p:txBody>
          <a:bodyPr anchor="t" rtlCol="false" tIns="0" lIns="0" bIns="0" rIns="0">
            <a:spAutoFit/>
          </a:bodyPr>
          <a:lstStyle/>
          <a:p>
            <a:pPr algn="ctr">
              <a:lnSpc>
                <a:spcPts val="5533"/>
              </a:lnSpc>
            </a:pPr>
            <a:r>
              <a:rPr lang="en-US" sz="3952" b="true">
                <a:solidFill>
                  <a:srgbClr val="000000"/>
                </a:solidFill>
                <a:latin typeface="Canva Sans Bold"/>
                <a:ea typeface="Canva Sans Bold"/>
                <a:cs typeface="Canva Sans Bold"/>
                <a:sym typeface="Canva Sans Bold"/>
              </a:rPr>
              <a:t>1974</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7759517" y="-533003"/>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624874">
            <a:off x="-1345023" y="93731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983751" y="1126546"/>
            <a:ext cx="11926519" cy="5038060"/>
          </a:xfrm>
          <a:custGeom>
            <a:avLst/>
            <a:gdLst/>
            <a:ahLst/>
            <a:cxnLst/>
            <a:rect r="r" b="b" t="t" l="l"/>
            <a:pathLst>
              <a:path h="5038060" w="11926519">
                <a:moveTo>
                  <a:pt x="0" y="0"/>
                </a:moveTo>
                <a:lnTo>
                  <a:pt x="11926519" y="0"/>
                </a:lnTo>
                <a:lnTo>
                  <a:pt x="11926519" y="5038060"/>
                </a:lnTo>
                <a:lnTo>
                  <a:pt x="0" y="5038060"/>
                </a:lnTo>
                <a:lnTo>
                  <a:pt x="0" y="0"/>
                </a:lnTo>
                <a:close/>
              </a:path>
            </a:pathLst>
          </a:custGeom>
          <a:blipFill>
            <a:blip r:embed="rId8"/>
            <a:stretch>
              <a:fillRect l="0" t="0" r="0" b="0"/>
            </a:stretch>
          </a:blipFill>
        </p:spPr>
      </p:sp>
      <p:sp>
        <p:nvSpPr>
          <p:cNvPr name="Freeform 6" id="6"/>
          <p:cNvSpPr/>
          <p:nvPr/>
        </p:nvSpPr>
        <p:spPr>
          <a:xfrm flipH="false" flipV="false" rot="0">
            <a:off x="2580616" y="6164606"/>
            <a:ext cx="5880976" cy="1573419"/>
          </a:xfrm>
          <a:custGeom>
            <a:avLst/>
            <a:gdLst/>
            <a:ahLst/>
            <a:cxnLst/>
            <a:rect r="r" b="b" t="t" l="l"/>
            <a:pathLst>
              <a:path h="1573419" w="5880976">
                <a:moveTo>
                  <a:pt x="0" y="0"/>
                </a:moveTo>
                <a:lnTo>
                  <a:pt x="5880976" y="0"/>
                </a:lnTo>
                <a:lnTo>
                  <a:pt x="5880976" y="1573419"/>
                </a:lnTo>
                <a:lnTo>
                  <a:pt x="0" y="1573419"/>
                </a:lnTo>
                <a:lnTo>
                  <a:pt x="0" y="0"/>
                </a:lnTo>
                <a:close/>
              </a:path>
            </a:pathLst>
          </a:custGeom>
          <a:blipFill>
            <a:blip r:embed="rId9"/>
            <a:stretch>
              <a:fillRect l="0" t="0" r="0" b="0"/>
            </a:stretch>
          </a:blipFill>
        </p:spPr>
      </p:sp>
      <p:sp>
        <p:nvSpPr>
          <p:cNvPr name="TextBox 7" id="7"/>
          <p:cNvSpPr txBox="true"/>
          <p:nvPr/>
        </p:nvSpPr>
        <p:spPr>
          <a:xfrm rot="0">
            <a:off x="7947010" y="6505273"/>
            <a:ext cx="6798364" cy="484319"/>
          </a:xfrm>
          <a:prstGeom prst="rect">
            <a:avLst/>
          </a:prstGeom>
        </p:spPr>
        <p:txBody>
          <a:bodyPr anchor="t" rtlCol="false" tIns="0" lIns="0" bIns="0" rIns="0">
            <a:spAutoFit/>
          </a:bodyPr>
          <a:lstStyle/>
          <a:p>
            <a:pPr algn="ctr">
              <a:lnSpc>
                <a:spcPts val="3927"/>
              </a:lnSpc>
            </a:pPr>
            <a:r>
              <a:rPr lang="en-US" sz="2805" b="true">
                <a:solidFill>
                  <a:srgbClr val="000000"/>
                </a:solidFill>
                <a:latin typeface="Red Hat Display Bold"/>
                <a:ea typeface="Red Hat Display Bold"/>
                <a:cs typeface="Red Hat Display Bold"/>
                <a:sym typeface="Red Hat Display Bold"/>
              </a:rPr>
              <a:t>Failed to Reject</a:t>
            </a:r>
            <a:r>
              <a:rPr lang="en-US" b="true" sz="2805">
                <a:solidFill>
                  <a:srgbClr val="000000"/>
                </a:solidFill>
                <a:latin typeface="Red Hat Display Bold"/>
                <a:ea typeface="Red Hat Display Bold"/>
                <a:cs typeface="Red Hat Display Bold"/>
                <a:sym typeface="Red Hat Display Bold"/>
              </a:rPr>
              <a:t> the Null Hypothesis (H₀).</a:t>
            </a:r>
          </a:p>
        </p:txBody>
      </p:sp>
      <p:sp>
        <p:nvSpPr>
          <p:cNvPr name="TextBox 8" id="8"/>
          <p:cNvSpPr txBox="true"/>
          <p:nvPr/>
        </p:nvSpPr>
        <p:spPr>
          <a:xfrm rot="0">
            <a:off x="2580616" y="8096558"/>
            <a:ext cx="13637089" cy="780186"/>
          </a:xfrm>
          <a:prstGeom prst="rect">
            <a:avLst/>
          </a:prstGeom>
        </p:spPr>
        <p:txBody>
          <a:bodyPr anchor="t" rtlCol="false" tIns="0" lIns="0" bIns="0" rIns="0">
            <a:spAutoFit/>
          </a:bodyPr>
          <a:lstStyle/>
          <a:p>
            <a:pPr algn="ctr" marL="493120" indent="-246560" lvl="1">
              <a:lnSpc>
                <a:spcPts val="3197"/>
              </a:lnSpc>
              <a:buFont typeface="Arial"/>
              <a:buChar char="•"/>
            </a:pPr>
            <a:r>
              <a:rPr lang="en-US" sz="2284">
                <a:solidFill>
                  <a:srgbClr val="000000"/>
                </a:solidFill>
                <a:latin typeface="Canva Sans"/>
                <a:ea typeface="Canva Sans"/>
                <a:cs typeface="Canva Sans"/>
                <a:sym typeface="Canva Sans"/>
              </a:rPr>
              <a:t>In Phase 2 (1991–2000), inflation slightly increased alongside exchange rate</a:t>
            </a:r>
            <a:r>
              <a:rPr lang="en-US" sz="2284">
                <a:solidFill>
                  <a:srgbClr val="000000"/>
                </a:solidFill>
                <a:latin typeface="Canva Sans"/>
                <a:ea typeface="Canva Sans"/>
                <a:cs typeface="Canva Sans"/>
                <a:sym typeface="Canva Sans"/>
              </a:rPr>
              <a:t> volatility — likely due to economic liberalization and price adjustments.</a:t>
            </a:r>
          </a:p>
        </p:txBody>
      </p:sp>
      <p:sp>
        <p:nvSpPr>
          <p:cNvPr name="TextBox 9" id="9"/>
          <p:cNvSpPr txBox="true"/>
          <p:nvPr/>
        </p:nvSpPr>
        <p:spPr>
          <a:xfrm rot="0">
            <a:off x="2716838" y="247397"/>
            <a:ext cx="11967859" cy="621952"/>
          </a:xfrm>
          <a:prstGeom prst="rect">
            <a:avLst/>
          </a:prstGeom>
        </p:spPr>
        <p:txBody>
          <a:bodyPr anchor="t" rtlCol="false" tIns="0" lIns="0" bIns="0" rIns="0">
            <a:spAutoFit/>
          </a:bodyPr>
          <a:lstStyle/>
          <a:p>
            <a:pPr algn="ctr">
              <a:lnSpc>
                <a:spcPts val="5126"/>
              </a:lnSpc>
            </a:pPr>
            <a:r>
              <a:rPr lang="en-US" sz="3661" b="true">
                <a:solidFill>
                  <a:srgbClr val="000000"/>
                </a:solidFill>
                <a:latin typeface="Canva Sans Bold"/>
                <a:ea typeface="Canva Sans Bold"/>
                <a:cs typeface="Canva Sans Bold"/>
                <a:sym typeface="Canva Sans Bold"/>
              </a:rPr>
              <a:t>ANOVA : Inflation Rate across Exchange Rate phases</a:t>
            </a:r>
          </a:p>
        </p:txBody>
      </p:sp>
      <p:sp>
        <p:nvSpPr>
          <p:cNvPr name="TextBox 10" id="10"/>
          <p:cNvSpPr txBox="true"/>
          <p:nvPr/>
        </p:nvSpPr>
        <p:spPr>
          <a:xfrm rot="0">
            <a:off x="2580616" y="8988445"/>
            <a:ext cx="13059855" cy="780186"/>
          </a:xfrm>
          <a:prstGeom prst="rect">
            <a:avLst/>
          </a:prstGeom>
        </p:spPr>
        <p:txBody>
          <a:bodyPr anchor="t" rtlCol="false" tIns="0" lIns="0" bIns="0" rIns="0">
            <a:spAutoFit/>
          </a:bodyPr>
          <a:lstStyle/>
          <a:p>
            <a:pPr algn="ctr" marL="493120" indent="-246560" lvl="1">
              <a:lnSpc>
                <a:spcPts val="3197"/>
              </a:lnSpc>
              <a:buFont typeface="Arial"/>
              <a:buChar char="•"/>
            </a:pPr>
            <a:r>
              <a:rPr lang="en-US" sz="2284">
                <a:solidFill>
                  <a:srgbClr val="000000"/>
                </a:solidFill>
                <a:latin typeface="Canva Sans"/>
                <a:ea typeface="Canva Sans"/>
                <a:cs typeface="Canva Sans"/>
                <a:sym typeface="Canva Sans"/>
              </a:rPr>
              <a:t>Inflation rate remained re</a:t>
            </a:r>
            <a:r>
              <a:rPr lang="en-US" sz="2284">
                <a:solidFill>
                  <a:srgbClr val="000000"/>
                </a:solidFill>
                <a:latin typeface="Canva Sans"/>
                <a:ea typeface="Canva Sans"/>
                <a:cs typeface="Canva Sans"/>
                <a:sym typeface="Canva Sans"/>
              </a:rPr>
              <a:t>latively stable and did not significantly influence exchange rate fluctuations</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9426524">
            <a:off x="-7759517" y="-533003"/>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624874">
            <a:off x="-1345023" y="93731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377879" y="1152393"/>
            <a:ext cx="12023869" cy="4969253"/>
          </a:xfrm>
          <a:custGeom>
            <a:avLst/>
            <a:gdLst/>
            <a:ahLst/>
            <a:cxnLst/>
            <a:rect r="r" b="b" t="t" l="l"/>
            <a:pathLst>
              <a:path h="4969253" w="12023869">
                <a:moveTo>
                  <a:pt x="0" y="0"/>
                </a:moveTo>
                <a:lnTo>
                  <a:pt x="12023869" y="0"/>
                </a:lnTo>
                <a:lnTo>
                  <a:pt x="12023869" y="4969252"/>
                </a:lnTo>
                <a:lnTo>
                  <a:pt x="0" y="4969252"/>
                </a:lnTo>
                <a:lnTo>
                  <a:pt x="0" y="0"/>
                </a:lnTo>
                <a:close/>
              </a:path>
            </a:pathLst>
          </a:custGeom>
          <a:blipFill>
            <a:blip r:embed="rId8"/>
            <a:stretch>
              <a:fillRect l="-3943" t="-2489" r="0" b="0"/>
            </a:stretch>
          </a:blipFill>
        </p:spPr>
      </p:sp>
      <p:sp>
        <p:nvSpPr>
          <p:cNvPr name="Freeform 6" id="6"/>
          <p:cNvSpPr/>
          <p:nvPr/>
        </p:nvSpPr>
        <p:spPr>
          <a:xfrm flipH="false" flipV="false" rot="0">
            <a:off x="2580616" y="6117848"/>
            <a:ext cx="11587388" cy="1709140"/>
          </a:xfrm>
          <a:custGeom>
            <a:avLst/>
            <a:gdLst/>
            <a:ahLst/>
            <a:cxnLst/>
            <a:rect r="r" b="b" t="t" l="l"/>
            <a:pathLst>
              <a:path h="1709140" w="11587388">
                <a:moveTo>
                  <a:pt x="0" y="0"/>
                </a:moveTo>
                <a:lnTo>
                  <a:pt x="11587388" y="0"/>
                </a:lnTo>
                <a:lnTo>
                  <a:pt x="11587388" y="1709140"/>
                </a:lnTo>
                <a:lnTo>
                  <a:pt x="0" y="1709140"/>
                </a:lnTo>
                <a:lnTo>
                  <a:pt x="0" y="0"/>
                </a:lnTo>
                <a:close/>
              </a:path>
            </a:pathLst>
          </a:custGeom>
          <a:blipFill>
            <a:blip r:embed="rId9"/>
            <a:stretch>
              <a:fillRect l="0" t="0" r="0" b="0"/>
            </a:stretch>
          </a:blipFill>
        </p:spPr>
      </p:sp>
      <p:sp>
        <p:nvSpPr>
          <p:cNvPr name="TextBox 7" id="7"/>
          <p:cNvSpPr txBox="true"/>
          <p:nvPr/>
        </p:nvSpPr>
        <p:spPr>
          <a:xfrm rot="0">
            <a:off x="2716838" y="247397"/>
            <a:ext cx="11967859" cy="621952"/>
          </a:xfrm>
          <a:prstGeom prst="rect">
            <a:avLst/>
          </a:prstGeom>
        </p:spPr>
        <p:txBody>
          <a:bodyPr anchor="t" rtlCol="false" tIns="0" lIns="0" bIns="0" rIns="0">
            <a:spAutoFit/>
          </a:bodyPr>
          <a:lstStyle/>
          <a:p>
            <a:pPr algn="ctr">
              <a:lnSpc>
                <a:spcPts val="5126"/>
              </a:lnSpc>
            </a:pPr>
            <a:r>
              <a:rPr lang="en-US" sz="3661" b="true">
                <a:solidFill>
                  <a:srgbClr val="000000"/>
                </a:solidFill>
                <a:latin typeface="Canva Sans Bold"/>
                <a:ea typeface="Canva Sans Bold"/>
                <a:cs typeface="Canva Sans Bold"/>
                <a:sym typeface="Canva Sans Bold"/>
              </a:rPr>
              <a:t>ANOVA : Trade Deficit across Exchange Rate phases</a:t>
            </a:r>
          </a:p>
        </p:txBody>
      </p:sp>
      <p:sp>
        <p:nvSpPr>
          <p:cNvPr name="TextBox 8" id="8"/>
          <p:cNvSpPr txBox="true"/>
          <p:nvPr/>
        </p:nvSpPr>
        <p:spPr>
          <a:xfrm rot="0">
            <a:off x="8156901" y="6466997"/>
            <a:ext cx="5277219" cy="484319"/>
          </a:xfrm>
          <a:prstGeom prst="rect">
            <a:avLst/>
          </a:prstGeom>
        </p:spPr>
        <p:txBody>
          <a:bodyPr anchor="t" rtlCol="false" tIns="0" lIns="0" bIns="0" rIns="0">
            <a:spAutoFit/>
          </a:bodyPr>
          <a:lstStyle/>
          <a:p>
            <a:pPr algn="ctr">
              <a:lnSpc>
                <a:spcPts val="3927"/>
              </a:lnSpc>
            </a:pPr>
            <a:r>
              <a:rPr lang="en-US" sz="2805" b="true">
                <a:solidFill>
                  <a:srgbClr val="000000"/>
                </a:solidFill>
                <a:latin typeface="Red Hat Display Bold"/>
                <a:ea typeface="Red Hat Display Bold"/>
                <a:cs typeface="Red Hat Display Bold"/>
                <a:sym typeface="Red Hat Display Bold"/>
              </a:rPr>
              <a:t>Reject</a:t>
            </a:r>
            <a:r>
              <a:rPr lang="en-US" b="true" sz="2805">
                <a:solidFill>
                  <a:srgbClr val="000000"/>
                </a:solidFill>
                <a:latin typeface="Red Hat Display Bold"/>
                <a:ea typeface="Red Hat Display Bold"/>
                <a:cs typeface="Red Hat Display Bold"/>
                <a:sym typeface="Red Hat Display Bold"/>
              </a:rPr>
              <a:t> the Null Hypothesis (H₀).</a:t>
            </a:r>
          </a:p>
        </p:txBody>
      </p:sp>
      <p:sp>
        <p:nvSpPr>
          <p:cNvPr name="TextBox 9" id="9"/>
          <p:cNvSpPr txBox="true"/>
          <p:nvPr/>
        </p:nvSpPr>
        <p:spPr>
          <a:xfrm rot="0">
            <a:off x="2866745" y="7933196"/>
            <a:ext cx="13637089" cy="1580286"/>
          </a:xfrm>
          <a:prstGeom prst="rect">
            <a:avLst/>
          </a:prstGeom>
        </p:spPr>
        <p:txBody>
          <a:bodyPr anchor="t" rtlCol="false" tIns="0" lIns="0" bIns="0" rIns="0">
            <a:spAutoFit/>
          </a:bodyPr>
          <a:lstStyle/>
          <a:p>
            <a:pPr algn="l">
              <a:lnSpc>
                <a:spcPts val="3197"/>
              </a:lnSpc>
            </a:pPr>
            <a:r>
              <a:rPr lang="en-US" sz="2284" b="true">
                <a:solidFill>
                  <a:srgbClr val="000000"/>
                </a:solidFill>
                <a:latin typeface="Canva Sans Bold"/>
                <a:ea typeface="Canva Sans Bold"/>
                <a:cs typeface="Canva Sans Bold"/>
                <a:sym typeface="Canva Sans Bold"/>
              </a:rPr>
              <a:t>Phase 1</a:t>
            </a:r>
            <a:r>
              <a:rPr lang="en-US" sz="2284">
                <a:solidFill>
                  <a:srgbClr val="000000"/>
                </a:solidFill>
                <a:latin typeface="Canva Sans"/>
                <a:ea typeface="Canva Sans"/>
                <a:cs typeface="Canva Sans"/>
                <a:sym typeface="Canva Sans"/>
              </a:rPr>
              <a:t> : </a:t>
            </a:r>
            <a:r>
              <a:rPr lang="en-US" sz="2284">
                <a:solidFill>
                  <a:srgbClr val="000000"/>
                </a:solidFill>
                <a:latin typeface="Canva Sans"/>
                <a:ea typeface="Canva Sans"/>
                <a:cs typeface="Canva Sans"/>
                <a:sym typeface="Canva Sans"/>
              </a:rPr>
              <a:t>Low deficits during a closed, regulated economy.</a:t>
            </a:r>
          </a:p>
          <a:p>
            <a:pPr algn="l">
              <a:lnSpc>
                <a:spcPts val="3197"/>
              </a:lnSpc>
            </a:pPr>
            <a:r>
              <a:rPr lang="en-US" sz="2284" b="true">
                <a:solidFill>
                  <a:srgbClr val="000000"/>
                </a:solidFill>
                <a:latin typeface="Canva Sans Bold"/>
                <a:ea typeface="Canva Sans Bold"/>
                <a:cs typeface="Canva Sans Bold"/>
                <a:sym typeface="Canva Sans Bold"/>
              </a:rPr>
              <a:t>Phase 2</a:t>
            </a:r>
            <a:r>
              <a:rPr lang="en-US" sz="2284">
                <a:solidFill>
                  <a:srgbClr val="000000"/>
                </a:solidFill>
                <a:latin typeface="Canva Sans"/>
                <a:ea typeface="Canva Sans"/>
                <a:cs typeface="Canva Sans"/>
                <a:sym typeface="Canva Sans"/>
              </a:rPr>
              <a:t> : Deficit increased after liberalization due to higher imports.</a:t>
            </a:r>
          </a:p>
          <a:p>
            <a:pPr algn="l">
              <a:lnSpc>
                <a:spcPts val="3197"/>
              </a:lnSpc>
            </a:pPr>
            <a:r>
              <a:rPr lang="en-US" b="true" sz="2284">
                <a:solidFill>
                  <a:srgbClr val="000000"/>
                </a:solidFill>
                <a:latin typeface="Canva Sans Bold"/>
                <a:ea typeface="Canva Sans Bold"/>
                <a:cs typeface="Canva Sans Bold"/>
                <a:sym typeface="Canva Sans Bold"/>
              </a:rPr>
              <a:t>Phase</a:t>
            </a:r>
            <a:r>
              <a:rPr lang="en-US" b="true" sz="2284">
                <a:solidFill>
                  <a:srgbClr val="000000"/>
                </a:solidFill>
                <a:latin typeface="Canva Sans Bold"/>
                <a:ea typeface="Canva Sans Bold"/>
                <a:cs typeface="Canva Sans Bold"/>
                <a:sym typeface="Canva Sans Bold"/>
              </a:rPr>
              <a:t> 3</a:t>
            </a:r>
            <a:r>
              <a:rPr lang="en-US" sz="2284">
                <a:solidFill>
                  <a:srgbClr val="000000"/>
                </a:solidFill>
                <a:latin typeface="Canva Sans"/>
                <a:ea typeface="Canva Sans"/>
                <a:cs typeface="Canva Sans"/>
                <a:sym typeface="Canva Sans"/>
              </a:rPr>
              <a:t> : Massive deficit growth during globalization and rising energy, capital, and tech imports.</a:t>
            </a:r>
          </a:p>
          <a:p>
            <a:pPr algn="ctr">
              <a:lnSpc>
                <a:spcPts val="3197"/>
              </a:lnSpc>
            </a:pP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715246">
            <a:off x="14430373" y="-1871638"/>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5149003" y="8204947"/>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94220" y="1656399"/>
            <a:ext cx="16179541" cy="8148378"/>
          </a:xfrm>
          <a:custGeom>
            <a:avLst/>
            <a:gdLst/>
            <a:ahLst/>
            <a:cxnLst/>
            <a:rect r="r" b="b" t="t" l="l"/>
            <a:pathLst>
              <a:path h="8148378" w="16179541">
                <a:moveTo>
                  <a:pt x="0" y="0"/>
                </a:moveTo>
                <a:lnTo>
                  <a:pt x="16179541" y="0"/>
                </a:lnTo>
                <a:lnTo>
                  <a:pt x="16179541" y="8148378"/>
                </a:lnTo>
                <a:lnTo>
                  <a:pt x="0" y="8148378"/>
                </a:lnTo>
                <a:lnTo>
                  <a:pt x="0" y="0"/>
                </a:lnTo>
                <a:close/>
              </a:path>
            </a:pathLst>
          </a:custGeom>
          <a:blipFill>
            <a:blip r:embed="rId8"/>
            <a:stretch>
              <a:fillRect l="0" t="-14421" r="0" b="0"/>
            </a:stretch>
          </a:blipFill>
        </p:spPr>
      </p:sp>
      <p:sp>
        <p:nvSpPr>
          <p:cNvPr name="Freeform 6" id="6"/>
          <p:cNvSpPr/>
          <p:nvPr/>
        </p:nvSpPr>
        <p:spPr>
          <a:xfrm flipH="false" flipV="false" rot="0">
            <a:off x="3129364" y="4264084"/>
            <a:ext cx="2277488" cy="1275393"/>
          </a:xfrm>
          <a:custGeom>
            <a:avLst/>
            <a:gdLst/>
            <a:ahLst/>
            <a:cxnLst/>
            <a:rect r="r" b="b" t="t" l="l"/>
            <a:pathLst>
              <a:path h="1275393" w="2277488">
                <a:moveTo>
                  <a:pt x="0" y="0"/>
                </a:moveTo>
                <a:lnTo>
                  <a:pt x="2277488" y="0"/>
                </a:lnTo>
                <a:lnTo>
                  <a:pt x="2277488" y="1275393"/>
                </a:lnTo>
                <a:lnTo>
                  <a:pt x="0" y="12753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3942718" y="345567"/>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Phase 1</a:t>
            </a:r>
          </a:p>
        </p:txBody>
      </p:sp>
      <p:sp>
        <p:nvSpPr>
          <p:cNvPr name="Freeform 8" id="8"/>
          <p:cNvSpPr/>
          <p:nvPr/>
        </p:nvSpPr>
        <p:spPr>
          <a:xfrm flipH="false" flipV="false" rot="0">
            <a:off x="2250096" y="1656399"/>
            <a:ext cx="4980363" cy="2925963"/>
          </a:xfrm>
          <a:custGeom>
            <a:avLst/>
            <a:gdLst/>
            <a:ahLst/>
            <a:cxnLst/>
            <a:rect r="r" b="b" t="t" l="l"/>
            <a:pathLst>
              <a:path h="2925963" w="4980363">
                <a:moveTo>
                  <a:pt x="0" y="0"/>
                </a:moveTo>
                <a:lnTo>
                  <a:pt x="4980363" y="0"/>
                </a:lnTo>
                <a:lnTo>
                  <a:pt x="4980363" y="2925964"/>
                </a:lnTo>
                <a:lnTo>
                  <a:pt x="0" y="29259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2377517" y="1798803"/>
            <a:ext cx="4725522" cy="815092"/>
          </a:xfrm>
          <a:prstGeom prst="rect">
            <a:avLst/>
          </a:prstGeom>
        </p:spPr>
        <p:txBody>
          <a:bodyPr anchor="t" rtlCol="false" tIns="0" lIns="0" bIns="0" rIns="0">
            <a:spAutoFit/>
          </a:bodyPr>
          <a:lstStyle/>
          <a:p>
            <a:pPr algn="ctr" marL="520268" indent="-260134" lvl="1">
              <a:lnSpc>
                <a:spcPts val="3373"/>
              </a:lnSpc>
              <a:buFont typeface="Arial"/>
              <a:buChar char="•"/>
            </a:pPr>
            <a:r>
              <a:rPr lang="en-US" sz="2409">
                <a:solidFill>
                  <a:srgbClr val="2D2261"/>
                </a:solidFill>
                <a:latin typeface="Canva Sans"/>
                <a:ea typeface="Canva Sans"/>
                <a:cs typeface="Canva Sans"/>
                <a:sym typeface="Canva Sans"/>
              </a:rPr>
              <a:t>India - Pak war (1965) increase defence spendings</a:t>
            </a:r>
          </a:p>
        </p:txBody>
      </p:sp>
      <p:sp>
        <p:nvSpPr>
          <p:cNvPr name="TextBox 10" id="10"/>
          <p:cNvSpPr txBox="true"/>
          <p:nvPr/>
        </p:nvSpPr>
        <p:spPr>
          <a:xfrm rot="0">
            <a:off x="2250096" y="2583281"/>
            <a:ext cx="4725522" cy="1234192"/>
          </a:xfrm>
          <a:prstGeom prst="rect">
            <a:avLst/>
          </a:prstGeom>
        </p:spPr>
        <p:txBody>
          <a:bodyPr anchor="t" rtlCol="false" tIns="0" lIns="0" bIns="0" rIns="0">
            <a:spAutoFit/>
          </a:bodyPr>
          <a:lstStyle/>
          <a:p>
            <a:pPr algn="ctr" marL="520268" indent="-260134" lvl="1">
              <a:lnSpc>
                <a:spcPts val="3373"/>
              </a:lnSpc>
              <a:buFont typeface="Arial"/>
              <a:buChar char="•"/>
            </a:pPr>
            <a:r>
              <a:rPr lang="en-US" sz="2409">
                <a:solidFill>
                  <a:srgbClr val="2D2261"/>
                </a:solidFill>
                <a:latin typeface="Canva Sans"/>
                <a:ea typeface="Canva Sans"/>
                <a:cs typeface="Canva Sans"/>
                <a:sym typeface="Canva Sans"/>
              </a:rPr>
              <a:t>Continious Drought in 1965 - 1966 leads to spike food prices</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715246">
            <a:off x="14430373" y="-1871638"/>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5149003" y="8204947"/>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8700" y="1502711"/>
            <a:ext cx="15883264" cy="8233094"/>
          </a:xfrm>
          <a:custGeom>
            <a:avLst/>
            <a:gdLst/>
            <a:ahLst/>
            <a:cxnLst/>
            <a:rect r="r" b="b" t="t" l="l"/>
            <a:pathLst>
              <a:path h="8233094" w="15883264">
                <a:moveTo>
                  <a:pt x="0" y="0"/>
                </a:moveTo>
                <a:lnTo>
                  <a:pt x="15883264" y="0"/>
                </a:lnTo>
                <a:lnTo>
                  <a:pt x="15883264" y="8233094"/>
                </a:lnTo>
                <a:lnTo>
                  <a:pt x="0" y="8233094"/>
                </a:lnTo>
                <a:lnTo>
                  <a:pt x="0" y="0"/>
                </a:lnTo>
                <a:close/>
              </a:path>
            </a:pathLst>
          </a:custGeom>
          <a:blipFill>
            <a:blip r:embed="rId8"/>
            <a:stretch>
              <a:fillRect l="0" t="-9169" r="0" b="0"/>
            </a:stretch>
          </a:blipFill>
        </p:spPr>
      </p:sp>
      <p:sp>
        <p:nvSpPr>
          <p:cNvPr name="Freeform 6" id="6"/>
          <p:cNvSpPr/>
          <p:nvPr/>
        </p:nvSpPr>
        <p:spPr>
          <a:xfrm flipH="false" flipV="false" rot="0">
            <a:off x="1028700" y="8830589"/>
            <a:ext cx="16045061" cy="974188"/>
          </a:xfrm>
          <a:custGeom>
            <a:avLst/>
            <a:gdLst/>
            <a:ahLst/>
            <a:cxnLst/>
            <a:rect r="r" b="b" t="t" l="l"/>
            <a:pathLst>
              <a:path h="974188" w="16045061">
                <a:moveTo>
                  <a:pt x="0" y="0"/>
                </a:moveTo>
                <a:lnTo>
                  <a:pt x="16045061" y="0"/>
                </a:lnTo>
                <a:lnTo>
                  <a:pt x="16045061" y="974188"/>
                </a:lnTo>
                <a:lnTo>
                  <a:pt x="0" y="974188"/>
                </a:lnTo>
                <a:lnTo>
                  <a:pt x="0" y="0"/>
                </a:lnTo>
                <a:close/>
              </a:path>
            </a:pathLst>
          </a:custGeom>
          <a:blipFill>
            <a:blip r:embed="rId9"/>
            <a:stretch>
              <a:fillRect l="-838" t="-857049" r="0" b="0"/>
            </a:stretch>
          </a:blipFill>
        </p:spPr>
      </p:sp>
      <p:sp>
        <p:nvSpPr>
          <p:cNvPr name="TextBox 7" id="7"/>
          <p:cNvSpPr txBox="true"/>
          <p:nvPr/>
        </p:nvSpPr>
        <p:spPr>
          <a:xfrm rot="0">
            <a:off x="3942718" y="345567"/>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Phase 2 &amp; 3</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5400399" y="4838700"/>
            <a:ext cx="7058502" cy="2759371"/>
          </a:xfrm>
          <a:prstGeom prst="rect">
            <a:avLst/>
          </a:prstGeom>
        </p:spPr>
        <p:txBody>
          <a:bodyPr anchor="t" rtlCol="false" tIns="0" lIns="0" bIns="0" rIns="0">
            <a:spAutoFit/>
          </a:bodyPr>
          <a:lstStyle/>
          <a:p>
            <a:pPr algn="ctr">
              <a:lnSpc>
                <a:spcPts val="22661"/>
              </a:lnSpc>
            </a:pPr>
            <a:r>
              <a:rPr lang="en-US" sz="16186" b="true">
                <a:solidFill>
                  <a:srgbClr val="000000"/>
                </a:solidFill>
                <a:latin typeface="Canva Sans Bold"/>
                <a:ea typeface="Canva Sans Bold"/>
                <a:cs typeface="Canva Sans Bold"/>
                <a:sym typeface="Canva Sans Bold"/>
              </a:rPr>
              <a:t>ধন্যবাদ</a:t>
            </a:r>
          </a:p>
        </p:txBody>
      </p:sp>
      <p:sp>
        <p:nvSpPr>
          <p:cNvPr name="TextBox 6" id="6"/>
          <p:cNvSpPr txBox="true"/>
          <p:nvPr/>
        </p:nvSpPr>
        <p:spPr>
          <a:xfrm rot="0">
            <a:off x="3771361" y="1996991"/>
            <a:ext cx="10316579" cy="2759371"/>
          </a:xfrm>
          <a:prstGeom prst="rect">
            <a:avLst/>
          </a:prstGeom>
        </p:spPr>
        <p:txBody>
          <a:bodyPr anchor="t" rtlCol="false" tIns="0" lIns="0" bIns="0" rIns="0">
            <a:spAutoFit/>
          </a:bodyPr>
          <a:lstStyle/>
          <a:p>
            <a:pPr algn="ctr">
              <a:lnSpc>
                <a:spcPts val="22661"/>
              </a:lnSpc>
            </a:pPr>
            <a:r>
              <a:rPr lang="en-US" sz="16186" b="true">
                <a:solidFill>
                  <a:srgbClr val="000000"/>
                </a:solidFill>
                <a:latin typeface="Canva Sans Bold"/>
                <a:ea typeface="Canva Sans Bold"/>
                <a:cs typeface="Canva Sans Bold"/>
                <a:sym typeface="Canva Sans Bold"/>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DAG3zdp7_lI</dc:identifier>
  <dcterms:modified xsi:type="dcterms:W3CDTF">2011-08-01T06:04:30Z</dcterms:modified>
  <cp:revision>1</cp:revision>
  <dc:title>Exchange Rate Volatility</dc:title>
</cp:coreProperties>
</file>